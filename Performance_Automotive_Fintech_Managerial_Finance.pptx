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131C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280160"/>
            <a:ext cx="9448495" cy="4114800"/>
          </a:xfrm>
          <a:prstGeom prst="rect">
            <a:avLst/>
          </a:prstGeom>
          <a:noFill/>
        </p:spPr>
        <p:txBody>
          <a:bodyPr wrap="square">
            <a:spAutoFit/>
          </a:bodyPr>
          <a:lstStyle/>
          <a:p>
            <a:pPr>
              <a:defRPr sz="1200" b="1">
                <a:solidFill>
                  <a:srgbClr val="06B6D4"/>
                </a:solidFill>
                <a:latin typeface="Helvetica"/>
              </a:defRPr>
            </a:pPr>
            <a:r>
              <a:t>MANAGERIAL FINANCE  |  CASE STUDY &amp; FINTECH STRATEGY</a:t>
            </a:r>
          </a:p>
          <a:p>
            <a:pPr>
              <a:spcBef>
                <a:spcPts val="1400"/>
              </a:spcBef>
              <a:spcAft>
                <a:spcPts val="1200"/>
              </a:spcAft>
              <a:defRPr sz="3600" b="1">
                <a:solidFill>
                  <a:srgbClr val="F8FAFC"/>
                </a:solidFill>
                <a:latin typeface="Helvetica"/>
              </a:defRPr>
            </a:pPr>
            <a:r>
              <a:t>Revamping SME Operations</a:t>
            </a:r>
            <a:br/>
            <a:r>
              <a:t>Through Embedded Fintech</a:t>
            </a:r>
          </a:p>
          <a:p>
            <a:pPr>
              <a:defRPr sz="1500">
                <a:solidFill>
                  <a:srgbClr val="94A3B8"/>
                </a:solidFill>
                <a:latin typeface="Arial"/>
              </a:defRPr>
            </a:pPr>
            <a:r>
              <a:t>Financial Discipline, Working Capital Acceleration &amp; Market Advantage for Sri Lankan Workshops</a:t>
            </a:r>
          </a:p>
        </p:txBody>
      </p:sp>
      <p:sp>
        <p:nvSpPr>
          <p:cNvPr id="4" name="Rounded Rectangle 3"/>
          <p:cNvSpPr/>
          <p:nvPr/>
        </p:nvSpPr>
        <p:spPr>
          <a:xfrm>
            <a:off x="1371600" y="4389120"/>
            <a:ext cx="9448495" cy="1097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4480560"/>
            <a:ext cx="9144000" cy="914400"/>
          </a:xfrm>
          <a:prstGeom prst="rect">
            <a:avLst/>
          </a:prstGeom>
          <a:noFill/>
        </p:spPr>
        <p:txBody>
          <a:bodyPr wrap="none">
            <a:spAutoFit/>
          </a:bodyPr>
          <a:lstStyle/>
          <a:p>
            <a:pPr>
              <a:defRPr sz="1200" b="1">
                <a:solidFill>
                  <a:srgbClr val="10B981"/>
                </a:solidFill>
                <a:latin typeface="Helvetica"/>
              </a:defRPr>
            </a:pPr>
            <a:r>
              <a:t>CASE SME: Performance Automotive Engineering (Pvt) Ltd, Piliyandala  •  SOLUTION: AutoPulse Platform</a:t>
            </a:r>
          </a:p>
          <a:p>
            <a:pPr>
              <a:spcBef>
                <a:spcPts val="400"/>
              </a:spcBef>
              <a:defRPr sz="1100">
                <a:solidFill>
                  <a:srgbClr val="F8FAFC"/>
                </a:solidFill>
                <a:latin typeface="Arial"/>
              </a:defRPr>
            </a:pPr>
            <a:r>
              <a:t>PRESENTERS: Group B15  •  DURATION: 12 Minutes (4 Speakers + Live Demonstration Video)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1  |  0:30 - 1:15</a:t>
            </a:r>
          </a:p>
          <a:p>
            <a:pPr>
              <a:spcBef>
                <a:spcPts val="400"/>
              </a:spcBef>
              <a:defRPr sz="2200" b="1">
                <a:solidFill>
                  <a:srgbClr val="F8FAFC"/>
                </a:solidFill>
                <a:latin typeface="Helvetica"/>
              </a:defRPr>
            </a:pPr>
            <a:r>
              <a:t>The SME Profile: Performance Automotive Engineering</a:t>
            </a:r>
          </a:p>
          <a:p>
            <a:pPr>
              <a:spcBef>
                <a:spcPts val="300"/>
              </a:spcBef>
              <a:defRPr sz="1100">
                <a:solidFill>
                  <a:srgbClr val="94A3B8"/>
                </a:solidFill>
                <a:latin typeface="Arial"/>
              </a:defRPr>
            </a:pPr>
            <a:r>
              <a:t>A high-value precision automotive workshop in Piliyandala, Western Province, Sri Lanka</a:t>
            </a:r>
          </a:p>
        </p:txBody>
      </p:sp>
      <p:sp>
        <p:nvSpPr>
          <p:cNvPr id="3" name="Rounded Rectangle 2"/>
          <p:cNvSpPr/>
          <p:nvPr/>
        </p:nvSpPr>
        <p:spPr>
          <a:xfrm>
            <a:off x="731520" y="1371600"/>
            <a:ext cx="548640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4937760" cy="4572000"/>
          </a:xfrm>
          <a:prstGeom prst="rect">
            <a:avLst/>
          </a:prstGeom>
          <a:noFill/>
        </p:spPr>
        <p:txBody>
          <a:bodyPr wrap="square">
            <a:spAutoFit/>
          </a:bodyPr>
          <a:lstStyle/>
          <a:p>
            <a:pPr>
              <a:spcAft>
                <a:spcPts val="1200"/>
              </a:spcAft>
            </a:pPr>
            <a:r>
              <a:rPr sz="1200" b="1">
                <a:solidFill>
                  <a:srgbClr val="06B6D4"/>
                </a:solidFill>
                <a:latin typeface="Helvetica"/>
              </a:rPr>
              <a:t>•  Specialized Niche: </a:t>
            </a:r>
            <a:r>
              <a:rPr sz="1100">
                <a:solidFill>
                  <a:srgbClr val="94A3B8"/>
                </a:solidFill>
                <a:latin typeface="Arial"/>
              </a:rPr>
              <a:t>Not a basic lube-bay or generic service shop; focuses on advanced performance tuning, ECU remapping, engine reliability &amp; diagnostics.</a:t>
            </a:r>
          </a:p>
          <a:p>
            <a:pPr>
              <a:spcAft>
                <a:spcPts val="1200"/>
              </a:spcAft>
            </a:pPr>
            <a:r>
              <a:rPr sz="1200" b="1">
                <a:solidFill>
                  <a:srgbClr val="F8FAFC"/>
                </a:solidFill>
                <a:latin typeface="Helvetica"/>
              </a:rPr>
              <a:t>•  Scale &amp; Capacity: </a:t>
            </a:r>
            <a:r>
              <a:rPr sz="1100">
                <a:solidFill>
                  <a:srgbClr val="94A3B8"/>
                </a:solidFill>
                <a:latin typeface="Arial"/>
              </a:rPr>
              <a:t>Services 40+ vehicles per month with a tight team of 5 skilled technicians and engineers.</a:t>
            </a:r>
          </a:p>
          <a:p>
            <a:pPr>
              <a:spcAft>
                <a:spcPts val="1200"/>
              </a:spcAft>
            </a:pPr>
            <a:r>
              <a:rPr sz="1200" b="1">
                <a:solidFill>
                  <a:srgbClr val="F8FAFC"/>
                </a:solidFill>
                <a:latin typeface="Helvetica"/>
              </a:rPr>
              <a:t>•  Governance Structure: </a:t>
            </a:r>
            <a:r>
              <a:rPr sz="1100">
                <a:solidFill>
                  <a:srgbClr val="94A3B8"/>
                </a:solidFill>
                <a:latin typeface="Arial"/>
              </a:rPr>
              <a:t>Co-ownership model; owners actively work on vehicle builds while managing day-to-day administrative tasks.</a:t>
            </a:r>
          </a:p>
          <a:p>
            <a:pPr>
              <a:spcAft>
                <a:spcPts val="1200"/>
              </a:spcAft>
            </a:pPr>
            <a:r>
              <a:rPr sz="1200" b="1">
                <a:solidFill>
                  <a:srgbClr val="10B981"/>
                </a:solidFill>
                <a:latin typeface="Helvetica"/>
              </a:rPr>
              <a:t>•  Customer Retention: </a:t>
            </a:r>
            <a:r>
              <a:rPr sz="1100">
                <a:solidFill>
                  <a:srgbClr val="94A3B8"/>
                </a:solidFill>
                <a:latin typeface="Arial"/>
              </a:rPr>
              <a:t>High client trust, enthusiast loyalty, and strong word-of-mouth reputation in the local automotive community.</a:t>
            </a:r>
          </a:p>
          <a:p>
            <a:pPr>
              <a:spcAft>
                <a:spcPts val="1200"/>
              </a:spcAft>
            </a:pPr>
            <a:r>
              <a:rPr sz="1200" b="1">
                <a:solidFill>
                  <a:srgbClr val="F59E0B"/>
                </a:solidFill>
                <a:latin typeface="Helvetica"/>
              </a:rPr>
              <a:t>•  Financial Dilemma: </a:t>
            </a:r>
            <a:r>
              <a:rPr sz="1100">
                <a:solidFill>
                  <a:srgbClr val="94A3B8"/>
                </a:solidFill>
                <a:latin typeface="Arial"/>
              </a:rPr>
              <a:t>High technical value created on the shop floor, but captured inefficiently due to manual, paper-based administration.</a:t>
            </a:r>
          </a:p>
        </p:txBody>
      </p:sp>
      <p:pic>
        <p:nvPicPr>
          <p:cNvPr id="5" name="Picture 4" descr="12-settings.png"/>
          <p:cNvPicPr>
            <a:picLocks noChangeAspect="1"/>
          </p:cNvPicPr>
          <p:nvPr/>
        </p:nvPicPr>
        <p:blipFill>
          <a:blip r:embed="rId2"/>
          <a:stretch>
            <a:fillRect/>
          </a:stretch>
        </p:blipFill>
        <p:spPr>
          <a:xfrm>
            <a:off x="6492240" y="1371600"/>
            <a:ext cx="493776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1  |  1:15 - 2:00</a:t>
            </a:r>
          </a:p>
          <a:p>
            <a:pPr>
              <a:spcBef>
                <a:spcPts val="400"/>
              </a:spcBef>
              <a:defRPr sz="2200" b="1">
                <a:solidFill>
                  <a:srgbClr val="F8FAFC"/>
                </a:solidFill>
                <a:latin typeface="Helvetica"/>
              </a:defRPr>
            </a:pPr>
            <a:r>
              <a:t>The Sri Lankan SME Context: Macro Volatility &amp; Capital Strain</a:t>
            </a:r>
          </a:p>
          <a:p>
            <a:pPr>
              <a:spcBef>
                <a:spcPts val="300"/>
              </a:spcBef>
              <a:defRPr sz="1100">
                <a:solidFill>
                  <a:srgbClr val="94A3B8"/>
                </a:solidFill>
                <a:latin typeface="Arial"/>
              </a:defRPr>
            </a:pPr>
            <a:r>
              <a:t>Why traditional informal management is no longer sustainable in Sri Lanka's current economic climate</a:t>
            </a:r>
          </a:p>
        </p:txBody>
      </p:sp>
      <p:sp>
        <p:nvSpPr>
          <p:cNvPr id="3" name="Rounded Rectangle 2"/>
          <p:cNvSpPr/>
          <p:nvPr/>
        </p:nvSpPr>
        <p:spPr>
          <a:xfrm>
            <a:off x="731520" y="1371600"/>
            <a:ext cx="3383280" cy="4114800"/>
          </a:xfrm>
          <a:prstGeom prst="roundRect">
            <a:avLst/>
          </a:prstGeom>
          <a:solidFill>
            <a:srgbClr val="131C31"/>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3017520" cy="3657600"/>
          </a:xfrm>
          <a:prstGeom prst="rect">
            <a:avLst/>
          </a:prstGeom>
          <a:noFill/>
        </p:spPr>
        <p:txBody>
          <a:bodyPr wrap="square">
            <a:spAutoFit/>
          </a:bodyPr>
          <a:lstStyle/>
          <a:p>
            <a:pPr>
              <a:spcAft>
                <a:spcPts val="1200"/>
              </a:spcAft>
              <a:defRPr sz="1400" b="1">
                <a:solidFill>
                  <a:srgbClr val="EF4444"/>
                </a:solidFill>
                <a:latin typeface="Helvetica"/>
              </a:defRPr>
            </a:pPr>
            <a:r>
              <a:t>Import Restrictions &amp; Parts Inflation</a:t>
            </a:r>
          </a:p>
          <a:p>
            <a:pPr>
              <a:lnSpc>
                <a:spcPct val="120000"/>
              </a:lnSpc>
              <a:defRPr sz="1200">
                <a:solidFill>
                  <a:srgbClr val="F8FAFC"/>
                </a:solidFill>
                <a:latin typeface="Arial"/>
              </a:defRPr>
            </a:pPr>
            <a:r>
              <a:t>Severe currency fluctuation and import barriers in Sri Lanka mean spare parts costs fluctuate wildly. Carrying dead stock or mispricing parts leads directly to unrecoverable margin losses.</a:t>
            </a:r>
          </a:p>
        </p:txBody>
      </p:sp>
      <p:sp>
        <p:nvSpPr>
          <p:cNvPr id="5" name="Rounded Rectangle 4"/>
          <p:cNvSpPr/>
          <p:nvPr/>
        </p:nvSpPr>
        <p:spPr>
          <a:xfrm>
            <a:off x="4389120" y="1371600"/>
            <a:ext cx="3383280" cy="4114800"/>
          </a:xfrm>
          <a:prstGeom prst="roundRect">
            <a:avLst/>
          </a:prstGeom>
          <a:solidFill>
            <a:srgbClr val="131C31"/>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645920"/>
            <a:ext cx="3017520" cy="3657600"/>
          </a:xfrm>
          <a:prstGeom prst="rect">
            <a:avLst/>
          </a:prstGeom>
          <a:noFill/>
        </p:spPr>
        <p:txBody>
          <a:bodyPr wrap="square">
            <a:spAutoFit/>
          </a:bodyPr>
          <a:lstStyle/>
          <a:p>
            <a:pPr>
              <a:spcAft>
                <a:spcPts val="1200"/>
              </a:spcAft>
              <a:defRPr sz="1400" b="1">
                <a:solidFill>
                  <a:srgbClr val="F59E0B"/>
                </a:solidFill>
                <a:latin typeface="Helvetica"/>
              </a:defRPr>
            </a:pPr>
            <a:r>
              <a:t>Prohibitive Cost of Debt (&gt;18-24%)</a:t>
            </a:r>
          </a:p>
          <a:p>
            <a:pPr>
              <a:lnSpc>
                <a:spcPct val="120000"/>
              </a:lnSpc>
              <a:defRPr sz="1200">
                <a:solidFill>
                  <a:srgbClr val="F8FAFC"/>
                </a:solidFill>
                <a:latin typeface="Arial"/>
              </a:defRPr>
            </a:pPr>
            <a:r>
              <a:t>With commercial borrowing rates historically high in Sri Lanka, SME workshops cannot rely on bank overdrafts. Working capital must be self-generated from rapid receivables and lean inventory.</a:t>
            </a:r>
          </a:p>
        </p:txBody>
      </p:sp>
      <p:sp>
        <p:nvSpPr>
          <p:cNvPr id="7" name="Rounded Rectangle 6"/>
          <p:cNvSpPr/>
          <p:nvPr/>
        </p:nvSpPr>
        <p:spPr>
          <a:xfrm>
            <a:off x="8046720" y="1371600"/>
            <a:ext cx="3383280" cy="4114800"/>
          </a:xfrm>
          <a:prstGeom prst="roundRect">
            <a:avLst/>
          </a:prstGeom>
          <a:solidFill>
            <a:srgbClr val="131C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645920"/>
            <a:ext cx="3017520" cy="3657600"/>
          </a:xfrm>
          <a:prstGeom prst="rect">
            <a:avLst/>
          </a:prstGeom>
          <a:noFill/>
        </p:spPr>
        <p:txBody>
          <a:bodyPr wrap="square">
            <a:spAutoFit/>
          </a:bodyPr>
          <a:lstStyle/>
          <a:p>
            <a:pPr>
              <a:spcAft>
                <a:spcPts val="1200"/>
              </a:spcAft>
              <a:defRPr sz="1400" b="1">
                <a:solidFill>
                  <a:srgbClr val="06B6D4"/>
                </a:solidFill>
                <a:latin typeface="Helvetica"/>
              </a:defRPr>
            </a:pPr>
            <a:r>
              <a:t>The 'Informal Management' Trap</a:t>
            </a:r>
          </a:p>
          <a:p>
            <a:pPr>
              <a:lnSpc>
                <a:spcPct val="120000"/>
              </a:lnSpc>
              <a:defRPr sz="1200">
                <a:solidFill>
                  <a:srgbClr val="F8FAFC"/>
                </a:solidFill>
                <a:latin typeface="Arial"/>
              </a:defRPr>
            </a:pPr>
            <a:r>
              <a:t>Most Sri Lankan auto workshops rely on memory, pocket notebooks, and delayed verbal billing. Over 30% of unbilled minor parts and labour hours are quietly lost each month.</a:t>
            </a:r>
          </a:p>
        </p:txBody>
      </p:sp>
      <p:sp>
        <p:nvSpPr>
          <p:cNvPr id="9" name="Rounded Rectangle 8"/>
          <p:cNvSpPr/>
          <p:nvPr/>
        </p:nvSpPr>
        <p:spPr>
          <a:xfrm>
            <a:off x="731520" y="5669280"/>
            <a:ext cx="10728655" cy="7315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60720"/>
            <a:ext cx="10332720" cy="548640"/>
          </a:xfrm>
          <a:prstGeom prst="rect">
            <a:avLst/>
          </a:prstGeom>
          <a:noFill/>
        </p:spPr>
        <p:txBody>
          <a:bodyPr wrap="none">
            <a:spAutoFit/>
          </a:bodyPr>
          <a:lstStyle/>
          <a:p>
            <a:pPr>
              <a:defRPr sz="1100" b="1">
                <a:solidFill>
                  <a:srgbClr val="06B6D4"/>
                </a:solidFill>
                <a:latin typeface="Helvetica"/>
              </a:defRPr>
            </a:pPr>
            <a:r>
              <a:t>TRANSITION: Chathura will now examine the operational bottlenecks and the Fintech solution.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2 (CHATHURA)  |  2:00 - 2:45</a:t>
            </a:r>
          </a:p>
          <a:p>
            <a:pPr>
              <a:spcBef>
                <a:spcPts val="400"/>
              </a:spcBef>
              <a:defRPr sz="2200" b="1">
                <a:solidFill>
                  <a:srgbClr val="F8FAFC"/>
                </a:solidFill>
                <a:latin typeface="Helvetica"/>
              </a:defRPr>
            </a:pPr>
            <a:r>
              <a:t>The Operational Reality: Paper-Based Administrative Blindspots</a:t>
            </a:r>
          </a:p>
          <a:p>
            <a:pPr>
              <a:spcBef>
                <a:spcPts val="300"/>
              </a:spcBef>
              <a:defRPr sz="1100">
                <a:solidFill>
                  <a:srgbClr val="94A3B8"/>
                </a:solidFill>
                <a:latin typeface="Arial"/>
              </a:defRPr>
            </a:pPr>
            <a:r>
              <a:t>The disconnect between high technical skill on the floor and zero visibility in the back-office</a:t>
            </a:r>
          </a:p>
        </p:txBody>
      </p:sp>
      <p:sp>
        <p:nvSpPr>
          <p:cNvPr id="3" name="Rounded Rectangle 2"/>
          <p:cNvSpPr/>
          <p:nvPr/>
        </p:nvSpPr>
        <p:spPr>
          <a:xfrm>
            <a:off x="731520" y="1371600"/>
            <a:ext cx="521208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4663440" cy="4572000"/>
          </a:xfrm>
          <a:prstGeom prst="rect">
            <a:avLst/>
          </a:prstGeom>
          <a:noFill/>
        </p:spPr>
        <p:txBody>
          <a:bodyPr wrap="square">
            <a:spAutoFit/>
          </a:bodyPr>
          <a:lstStyle/>
          <a:p>
            <a:pPr>
              <a:spcAft>
                <a:spcPts val="1400"/>
              </a:spcAft>
              <a:defRPr sz="1300" b="1">
                <a:solidFill>
                  <a:srgbClr val="EF4444"/>
                </a:solidFill>
                <a:latin typeface="Helvetica"/>
              </a:defRPr>
            </a:pPr>
            <a:r>
              <a:t>THE 4 MAJOR ADMINISTRATIVE BREAKDOWNS</a:t>
            </a:r>
            <a:r>
              <a:rPr sz="1200" b="1">
                <a:solidFill>
                  <a:srgbClr val="EF4444"/>
                </a:solidFill>
                <a:latin typeface="Helvetica"/>
              </a:rPr>
              <a:t>•  Manual Paper Job Cards: </a:t>
            </a:r>
            <a:r>
              <a:rPr sz="1100">
                <a:solidFill>
                  <a:srgbClr val="94A3B8"/>
                </a:solidFill>
                <a:latin typeface="Arial"/>
              </a:rPr>
              <a:t>Work instructions scribbled on paper grease-sheets; prone to being misplaced, torn, or incomplete.</a:t>
            </a:r>
          </a:p>
          <a:p>
            <a:pPr>
              <a:spcAft>
                <a:spcPts val="1400"/>
              </a:spcAft>
            </a:pPr>
            <a:r>
              <a:rPr sz="1200" b="1">
                <a:solidFill>
                  <a:srgbClr val="F59E0B"/>
                </a:solidFill>
                <a:latin typeface="Helvetica"/>
              </a:rPr>
              <a:t>•  Telephone Call Tracking: </a:t>
            </a:r>
            <a:r>
              <a:rPr sz="1100">
                <a:solidFill>
                  <a:srgbClr val="94A3B8"/>
                </a:solidFill>
                <a:latin typeface="Arial"/>
              </a:rPr>
              <a:t>Customers constantly call for updates, interrupting technicians and halting billable hours.</a:t>
            </a:r>
          </a:p>
          <a:p>
            <a:pPr>
              <a:spcAft>
                <a:spcPts val="1400"/>
              </a:spcAft>
            </a:pPr>
            <a:r>
              <a:rPr sz="1200" b="1">
                <a:solidFill>
                  <a:srgbClr val="EF4444"/>
                </a:solidFill>
                <a:latin typeface="Helvetica"/>
              </a:rPr>
              <a:t>•  Delayed End-of-Job Billing: </a:t>
            </a:r>
            <a:r>
              <a:rPr sz="1100">
                <a:solidFill>
                  <a:srgbClr val="94A3B8"/>
                </a:solidFill>
                <a:latin typeface="Arial"/>
              </a:rPr>
              <a:t>Invoices manually hand-written at collection; parts prices guessed from memory, discounts unrecorded.</a:t>
            </a:r>
          </a:p>
          <a:p>
            <a:pPr>
              <a:spcAft>
                <a:spcPts val="1400"/>
              </a:spcAft>
            </a:pPr>
            <a:r>
              <a:rPr sz="1200" b="1">
                <a:solidFill>
                  <a:srgbClr val="F8FAFC"/>
                </a:solidFill>
                <a:latin typeface="Helvetica"/>
              </a:rPr>
              <a:t>•  Total Financial Blindness: </a:t>
            </a:r>
            <a:r>
              <a:rPr sz="1100">
                <a:solidFill>
                  <a:srgbClr val="94A3B8"/>
                </a:solidFill>
                <a:latin typeface="Arial"/>
              </a:rPr>
              <a:t>The owner cannot tell at any given moment: What is unbilled WIP? Who owes money? Are we profitable?</a:t>
            </a:r>
          </a:p>
        </p:txBody>
      </p:sp>
      <p:sp>
        <p:nvSpPr>
          <p:cNvPr id="5" name="Rounded Rectangle 4"/>
          <p:cNvSpPr/>
          <p:nvPr/>
        </p:nvSpPr>
        <p:spPr>
          <a:xfrm>
            <a:off x="6217920" y="1371600"/>
            <a:ext cx="521208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554480"/>
            <a:ext cx="4663440" cy="4572000"/>
          </a:xfrm>
          <a:prstGeom prst="rect">
            <a:avLst/>
          </a:prstGeom>
          <a:noFill/>
        </p:spPr>
        <p:txBody>
          <a:bodyPr wrap="square">
            <a:spAutoFit/>
          </a:bodyPr>
          <a:lstStyle/>
          <a:p>
            <a:pPr>
              <a:spcAft>
                <a:spcPts val="1400"/>
              </a:spcAft>
              <a:defRPr sz="1300" b="1">
                <a:solidFill>
                  <a:srgbClr val="F59E0B"/>
                </a:solidFill>
                <a:latin typeface="Helvetica"/>
              </a:defRPr>
            </a:pPr>
            <a:r>
              <a:t>MANAGERIAL FINANCE CONSEQUENCES</a:t>
            </a:r>
          </a:p>
          <a:p>
            <a:pPr>
              <a:spcAft>
                <a:spcPts val="1200"/>
              </a:spcAft>
              <a:defRPr sz="1100">
                <a:solidFill>
                  <a:srgbClr val="F8FAFC"/>
                </a:solidFill>
                <a:latin typeface="Arial"/>
              </a:defRPr>
            </a:pPr>
            <a:r>
              <a:t>⚠  Revenue Leakage: 5% to 8% of consumables (fluids, clips, seals) never make it onto the invoice.</a:t>
            </a:r>
          </a:p>
          <a:p>
            <a:pPr>
              <a:spcAft>
                <a:spcPts val="1200"/>
              </a:spcAft>
              <a:defRPr sz="1100">
                <a:solidFill>
                  <a:srgbClr val="F8FAFC"/>
                </a:solidFill>
                <a:latin typeface="Arial"/>
              </a:defRPr>
            </a:pPr>
            <a:r>
              <a:t>⚠  Delayed Cash Conversion: Customers take days or weeks to settle hand-written bills without digital payment links.</a:t>
            </a:r>
          </a:p>
          <a:p>
            <a:pPr>
              <a:spcAft>
                <a:spcPts val="1200"/>
              </a:spcAft>
              <a:defRPr sz="1100">
                <a:solidFill>
                  <a:srgbClr val="F8FAFC"/>
                </a:solidFill>
                <a:latin typeface="Arial"/>
              </a:defRPr>
            </a:pPr>
            <a:r>
              <a:t>⚠  Distorted Unit Economics: Management cannot distinguish whether profit came from high-margin labour or low-margin parts.</a:t>
            </a:r>
          </a:p>
          <a:p>
            <a:pPr>
              <a:spcAft>
                <a:spcPts val="1200"/>
              </a:spcAft>
              <a:defRPr sz="1100">
                <a:solidFill>
                  <a:srgbClr val="F8FAFC"/>
                </a:solidFill>
                <a:latin typeface="Arial"/>
              </a:defRPr>
            </a:pPr>
            <a:r>
              <a:t>⚠  Tax &amp; Audit Vulnerability: Zero audit trail for Sri Lankan tax authorities; annual accounts assembled in chaos at year-end.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2 (CHATHURA)  |  2:45 - 3:30</a:t>
            </a:r>
          </a:p>
          <a:p>
            <a:pPr>
              <a:spcBef>
                <a:spcPts val="400"/>
              </a:spcBef>
              <a:defRPr sz="2200" b="1">
                <a:solidFill>
                  <a:srgbClr val="F8FAFC"/>
                </a:solidFill>
                <a:latin typeface="Helvetica"/>
              </a:defRPr>
            </a:pPr>
            <a:r>
              <a:t>The Fintech Paradox for Sri Lankan SMEs</a:t>
            </a:r>
          </a:p>
          <a:p>
            <a:pPr>
              <a:spcBef>
                <a:spcPts val="300"/>
              </a:spcBef>
              <a:defRPr sz="1100">
                <a:solidFill>
                  <a:srgbClr val="94A3B8"/>
                </a:solidFill>
                <a:latin typeface="Arial"/>
              </a:defRPr>
            </a:pPr>
            <a:r>
              <a:t>Why off-the-shelf banking and enterprise fintech often fails small automotive workshops</a:t>
            </a:r>
          </a:p>
        </p:txBody>
      </p:sp>
      <p:sp>
        <p:nvSpPr>
          <p:cNvPr id="3" name="Rounded Rectangle 2"/>
          <p:cNvSpPr/>
          <p:nvPr/>
        </p:nvSpPr>
        <p:spPr>
          <a:xfrm>
            <a:off x="731520" y="1371600"/>
            <a:ext cx="5212080" cy="4937760"/>
          </a:xfrm>
          <a:prstGeom prst="roundRect">
            <a:avLst/>
          </a:prstGeom>
          <a:solidFill>
            <a:srgbClr val="131C31"/>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4663440" cy="4572000"/>
          </a:xfrm>
          <a:prstGeom prst="rect">
            <a:avLst/>
          </a:prstGeom>
          <a:noFill/>
        </p:spPr>
        <p:txBody>
          <a:bodyPr wrap="square">
            <a:spAutoFit/>
          </a:bodyPr>
          <a:lstStyle/>
          <a:p>
            <a:pPr>
              <a:spcAft>
                <a:spcPts val="1000"/>
              </a:spcAft>
              <a:defRPr sz="1300" b="1">
                <a:solidFill>
                  <a:srgbClr val="EF4444"/>
                </a:solidFill>
                <a:latin typeface="Helvetica"/>
              </a:defRPr>
            </a:pPr>
            <a:r>
              <a:t>TRADITIONAL FINTECH / ERP BARRIERS</a:t>
            </a:r>
            <a:r>
              <a:rPr sz="1150" b="1">
                <a:solidFill>
                  <a:srgbClr val="EF4444"/>
                </a:solidFill>
                <a:latin typeface="Helvetica"/>
              </a:rPr>
              <a:t>•  POS Hardware Costs: </a:t>
            </a:r>
            <a:r>
              <a:rPr sz="1050">
                <a:solidFill>
                  <a:srgbClr val="94A3B8"/>
                </a:solidFill>
                <a:latin typeface="Arial"/>
              </a:rPr>
              <a:t>POS terminal rentals (LKR 3,000–5,000/mo) + merchant transaction fees (2.5% to 3.5%) eat into slim parts margins.</a:t>
            </a:r>
          </a:p>
          <a:p>
            <a:pPr>
              <a:spcAft>
                <a:spcPts val="1000"/>
              </a:spcAft>
            </a:pPr>
            <a:r>
              <a:rPr sz="1150" b="1">
                <a:solidFill>
                  <a:srgbClr val="94A3B8"/>
                </a:solidFill>
                <a:latin typeface="Helvetica"/>
              </a:rPr>
              <a:t>•  Complex Bank Onboarding: </a:t>
            </a:r>
            <a:r>
              <a:rPr sz="1050">
                <a:solidFill>
                  <a:srgbClr val="94A3B8"/>
                </a:solidFill>
                <a:latin typeface="Arial"/>
              </a:rPr>
              <a:t>Lengthy KYC, corporate guarantees, and merchant approval cycles from commercial banks.</a:t>
            </a:r>
          </a:p>
          <a:p>
            <a:pPr>
              <a:spcAft>
                <a:spcPts val="1000"/>
              </a:spcAft>
            </a:pPr>
            <a:r>
              <a:rPr sz="1150" b="1">
                <a:solidFill>
                  <a:srgbClr val="94A3B8"/>
                </a:solidFill>
                <a:latin typeface="Helvetica"/>
              </a:rPr>
              <a:t>•  Rigid Accounting Software: </a:t>
            </a:r>
            <a:r>
              <a:rPr sz="1050">
                <a:solidFill>
                  <a:srgbClr val="94A3B8"/>
                </a:solidFill>
                <a:latin typeface="Arial"/>
              </a:rPr>
              <a:t>QuickBooks/Xero require accounting knowledge, separate manual data entry, and lack garage workflow.</a:t>
            </a:r>
          </a:p>
          <a:p>
            <a:pPr>
              <a:spcAft>
                <a:spcPts val="1000"/>
              </a:spcAft>
            </a:pPr>
            <a:r>
              <a:rPr sz="1150" b="1">
                <a:solidFill>
                  <a:srgbClr val="EF4444"/>
                </a:solidFill>
                <a:latin typeface="Helvetica"/>
              </a:rPr>
              <a:t>•  Capex Friction: </a:t>
            </a:r>
            <a:r>
              <a:rPr sz="1050">
                <a:solidFill>
                  <a:srgbClr val="94A3B8"/>
                </a:solidFill>
                <a:latin typeface="Arial"/>
              </a:rPr>
              <a:t>Upfront software licenses ($500–$2,000/yr) are prohibitive for a 5-person workshop in Sri Lanka.</a:t>
            </a:r>
          </a:p>
        </p:txBody>
      </p:sp>
      <p:sp>
        <p:nvSpPr>
          <p:cNvPr id="5" name="Rounded Rectangle 4"/>
          <p:cNvSpPr/>
          <p:nvPr/>
        </p:nvSpPr>
        <p:spPr>
          <a:xfrm>
            <a:off x="6217920" y="1371600"/>
            <a:ext cx="5212080" cy="4937760"/>
          </a:xfrm>
          <a:prstGeom prst="roundRect">
            <a:avLst/>
          </a:prstGeom>
          <a:solidFill>
            <a:srgbClr val="131C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554480"/>
            <a:ext cx="4663440" cy="4572000"/>
          </a:xfrm>
          <a:prstGeom prst="rect">
            <a:avLst/>
          </a:prstGeom>
          <a:noFill/>
        </p:spPr>
        <p:txBody>
          <a:bodyPr wrap="square">
            <a:spAutoFit/>
          </a:bodyPr>
          <a:lstStyle/>
          <a:p>
            <a:pPr>
              <a:spcAft>
                <a:spcPts val="1000"/>
              </a:spcAft>
              <a:defRPr sz="1300" b="1">
                <a:solidFill>
                  <a:srgbClr val="10B981"/>
                </a:solidFill>
                <a:latin typeface="Helvetica"/>
              </a:defRPr>
            </a:pPr>
            <a:r>
              <a:t>WHAT AUTO-WORKSHOPS ACTUALLY NEED</a:t>
            </a:r>
            <a:r>
              <a:rPr sz="1150" b="1">
                <a:solidFill>
                  <a:srgbClr val="10B981"/>
                </a:solidFill>
                <a:latin typeface="Helvetica"/>
              </a:rPr>
              <a:t>•  Zero Capex Architecture: </a:t>
            </a:r>
            <a:r>
              <a:rPr sz="1050">
                <a:solidFill>
                  <a:srgbClr val="94A3B8"/>
                </a:solidFill>
                <a:latin typeface="Arial"/>
              </a:rPr>
              <a:t>Cloud-native web app running on existing smartphones and workshop laptops — zero new hardware.</a:t>
            </a:r>
          </a:p>
          <a:p>
            <a:pPr>
              <a:spcAft>
                <a:spcPts val="1000"/>
              </a:spcAft>
            </a:pPr>
            <a:r>
              <a:rPr sz="1150" b="1">
                <a:solidFill>
                  <a:srgbClr val="06B6D4"/>
                </a:solidFill>
                <a:latin typeface="Helvetica"/>
              </a:rPr>
              <a:t>•  Embedded in Daily Workflow: </a:t>
            </a:r>
            <a:r>
              <a:rPr sz="1050">
                <a:solidFill>
                  <a:srgbClr val="94A3B8"/>
                </a:solidFill>
                <a:latin typeface="Arial"/>
              </a:rPr>
              <a:t>Fintech must happen automatically as a byproduct of mechanics logging parts and completing jobs.</a:t>
            </a:r>
          </a:p>
          <a:p>
            <a:pPr>
              <a:spcAft>
                <a:spcPts val="1000"/>
              </a:spcAft>
            </a:pPr>
            <a:r>
              <a:rPr sz="1150" b="1">
                <a:solidFill>
                  <a:srgbClr val="10B981"/>
                </a:solidFill>
                <a:latin typeface="Helvetica"/>
              </a:rPr>
              <a:t>•  LankaQR &amp; Direct Settlement: </a:t>
            </a:r>
            <a:r>
              <a:rPr sz="1050">
                <a:solidFill>
                  <a:srgbClr val="94A3B8"/>
                </a:solidFill>
                <a:latin typeface="Arial"/>
              </a:rPr>
              <a:t>Bypasses expensive card interchange fees; utilizes Sri Lanka's low-cost national LankaQR rails.</a:t>
            </a:r>
          </a:p>
          <a:p>
            <a:pPr>
              <a:spcAft>
                <a:spcPts val="1000"/>
              </a:spcAft>
            </a:pPr>
            <a:r>
              <a:rPr sz="1150" b="1">
                <a:solidFill>
                  <a:srgbClr val="06B6D4"/>
                </a:solidFill>
                <a:latin typeface="Helvetica"/>
              </a:rPr>
              <a:t>•  Statutory Native (1 Apr – 31 Mar): </a:t>
            </a:r>
            <a:r>
              <a:rPr sz="1050">
                <a:solidFill>
                  <a:srgbClr val="94A3B8"/>
                </a:solidFill>
                <a:latin typeface="Arial"/>
              </a:rPr>
              <a:t>Calculations must automatically map to Sri Lanka's Inland Revenue fiscal requirements.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2 (CHATHURA)  |  3:30 - 4:30</a:t>
            </a:r>
          </a:p>
          <a:p>
            <a:pPr>
              <a:spcBef>
                <a:spcPts val="400"/>
              </a:spcBef>
              <a:defRPr sz="2200" b="1">
                <a:solidFill>
                  <a:srgbClr val="F8FAFC"/>
                </a:solidFill>
                <a:latin typeface="Helvetica"/>
              </a:defRPr>
            </a:pPr>
            <a:r>
              <a:t>The Solution: AutoPulse Connected Fintech Platform</a:t>
            </a:r>
          </a:p>
          <a:p>
            <a:pPr>
              <a:spcBef>
                <a:spcPts val="300"/>
              </a:spcBef>
              <a:defRPr sz="1100">
                <a:solidFill>
                  <a:srgbClr val="94A3B8"/>
                </a:solidFill>
                <a:latin typeface="Arial"/>
              </a:defRPr>
            </a:pPr>
            <a:r>
              <a:t>Unifying shop-floor vehicle workflows, real-time inventory, and embedded managerial finance</a:t>
            </a:r>
          </a:p>
        </p:txBody>
      </p:sp>
      <p:sp>
        <p:nvSpPr>
          <p:cNvPr id="3" name="Rounded Rectangle 2"/>
          <p:cNvSpPr/>
          <p:nvPr/>
        </p:nvSpPr>
        <p:spPr>
          <a:xfrm>
            <a:off x="731520" y="1371600"/>
            <a:ext cx="411480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3749039" cy="4572000"/>
          </a:xfrm>
          <a:prstGeom prst="rect">
            <a:avLst/>
          </a:prstGeom>
          <a:noFill/>
        </p:spPr>
        <p:txBody>
          <a:bodyPr wrap="square">
            <a:spAutoFit/>
          </a:bodyPr>
          <a:lstStyle/>
          <a:p>
            <a:pPr>
              <a:spcAft>
                <a:spcPts val="1000"/>
              </a:spcAft>
              <a:defRPr sz="1200" b="1">
                <a:solidFill>
                  <a:srgbClr val="06B6D4"/>
                </a:solidFill>
                <a:latin typeface="Helvetica"/>
              </a:defRPr>
            </a:pPr>
            <a:r>
              <a:t>THE UNIFIED WORKFLOW</a:t>
            </a:r>
            <a:r>
              <a:rPr sz="1100" b="1">
                <a:solidFill>
                  <a:srgbClr val="F8FAFC"/>
                </a:solidFill>
                <a:latin typeface="Helvetica"/>
              </a:rPr>
              <a:t>•  SmartScan Check-In: </a:t>
            </a:r>
            <a:r>
              <a:rPr sz="1000">
                <a:solidFill>
                  <a:srgbClr val="94A3B8"/>
                </a:solidFill>
                <a:latin typeface="Arial"/>
              </a:rPr>
              <a:t>On-device OCR recognizes license plate instantly; retrieves vehicle service history in seconds.</a:t>
            </a:r>
          </a:p>
          <a:p>
            <a:pPr>
              <a:spcAft>
                <a:spcPts val="1000"/>
              </a:spcAft>
            </a:pPr>
            <a:r>
              <a:rPr sz="1100" b="1">
                <a:solidFill>
                  <a:srgbClr val="06B6D4"/>
                </a:solidFill>
                <a:latin typeface="Helvetica"/>
              </a:rPr>
              <a:t>•  Digital Kanban Board: </a:t>
            </a:r>
            <a:r>
              <a:rPr sz="1000">
                <a:solidFill>
                  <a:srgbClr val="94A3B8"/>
                </a:solidFill>
                <a:latin typeface="Arial"/>
              </a:rPr>
              <a:t>Tracks status: Pending -&gt; In Progress -&gt; Waiting Parts -&gt; Completed.</a:t>
            </a:r>
          </a:p>
          <a:p>
            <a:pPr>
              <a:spcAft>
                <a:spcPts val="1000"/>
              </a:spcAft>
            </a:pPr>
            <a:r>
              <a:rPr sz="1100" b="1">
                <a:solidFill>
                  <a:srgbClr val="10B981"/>
                </a:solidFill>
                <a:latin typeface="Helvetica"/>
              </a:rPr>
              <a:t>•  Automated Invoicing: </a:t>
            </a:r>
            <a:r>
              <a:rPr sz="1000">
                <a:solidFill>
                  <a:srgbClr val="94A3B8"/>
                </a:solidFill>
                <a:latin typeface="Arial"/>
              </a:rPr>
              <a:t>Job card automatically compiles parts and labor into a compliant digital invoice on completion.</a:t>
            </a:r>
          </a:p>
          <a:p>
            <a:pPr>
              <a:spcAft>
                <a:spcPts val="1000"/>
              </a:spcAft>
            </a:pPr>
            <a:r>
              <a:rPr sz="1100" b="1">
                <a:solidFill>
                  <a:srgbClr val="F59E0B"/>
                </a:solidFill>
                <a:latin typeface="Helvetica"/>
              </a:rPr>
              <a:t>•  Omnichannel Settlement: </a:t>
            </a:r>
            <a:r>
              <a:rPr sz="1000">
                <a:solidFill>
                  <a:srgbClr val="94A3B8"/>
                </a:solidFill>
                <a:latin typeface="Arial"/>
              </a:rPr>
              <a:t>One-click invoice dispatch via WhatsApp and SMS with payment links.</a:t>
            </a:r>
          </a:p>
          <a:p>
            <a:pPr>
              <a:spcAft>
                <a:spcPts val="1000"/>
              </a:spcAft>
            </a:pPr>
            <a:r>
              <a:rPr sz="1100" b="1">
                <a:solidFill>
                  <a:srgbClr val="10B981"/>
                </a:solidFill>
                <a:latin typeface="Helvetica"/>
              </a:rPr>
              <a:t>•  Live Financial Dashboard: </a:t>
            </a:r>
            <a:r>
              <a:rPr sz="1000">
                <a:solidFill>
                  <a:srgbClr val="94A3B8"/>
                </a:solidFill>
                <a:latin typeface="Arial"/>
              </a:rPr>
              <a:t>Real-time P&amp;L, debtors, creditors, and bank balances without manual bookkeeping.</a:t>
            </a:r>
          </a:p>
        </p:txBody>
      </p:sp>
      <p:pic>
        <p:nvPicPr>
          <p:cNvPr id="5" name="Picture 4" descr="diagram_ecosystem.png"/>
          <p:cNvPicPr>
            <a:picLocks noChangeAspect="1"/>
          </p:cNvPicPr>
          <p:nvPr/>
        </p:nvPicPr>
        <p:blipFill>
          <a:blip r:embed="rId2"/>
          <a:stretch>
            <a:fillRect/>
          </a:stretch>
        </p:blipFill>
        <p:spPr>
          <a:xfrm>
            <a:off x="5120640" y="1371600"/>
            <a:ext cx="6309360" cy="280557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3  |  4:30 - 5:15</a:t>
            </a:r>
          </a:p>
          <a:p>
            <a:pPr>
              <a:spcBef>
                <a:spcPts val="400"/>
              </a:spcBef>
              <a:defRPr sz="2200" b="1">
                <a:solidFill>
                  <a:srgbClr val="F8FAFC"/>
                </a:solidFill>
                <a:latin typeface="Helvetica"/>
              </a:defRPr>
            </a:pPr>
            <a:r>
              <a:t>Managerial Finance: Compressing the Cash Conversion Cycle (CCC)</a:t>
            </a:r>
          </a:p>
          <a:p>
            <a:pPr>
              <a:spcBef>
                <a:spcPts val="300"/>
              </a:spcBef>
              <a:defRPr sz="1100">
                <a:solidFill>
                  <a:srgbClr val="94A3B8"/>
                </a:solidFill>
                <a:latin typeface="Arial"/>
              </a:defRPr>
            </a:pPr>
            <a:r>
              <a:t>Mathematical framework: Accelerating cash flow from 65 days down to 17 days</a:t>
            </a:r>
          </a:p>
        </p:txBody>
      </p:sp>
      <p:sp>
        <p:nvSpPr>
          <p:cNvPr id="3" name="Rounded Rectangle 2"/>
          <p:cNvSpPr/>
          <p:nvPr/>
        </p:nvSpPr>
        <p:spPr>
          <a:xfrm>
            <a:off x="731520" y="1371600"/>
            <a:ext cx="10728655" cy="9144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17320"/>
            <a:ext cx="10332720" cy="822960"/>
          </a:xfrm>
          <a:prstGeom prst="rect">
            <a:avLst/>
          </a:prstGeom>
          <a:noFill/>
        </p:spPr>
        <p:txBody>
          <a:bodyPr wrap="none">
            <a:spAutoFit/>
          </a:bodyPr>
          <a:lstStyle/>
          <a:p>
            <a:pPr>
              <a:defRPr sz="1150" b="1">
                <a:solidFill>
                  <a:srgbClr val="F8FAFC"/>
                </a:solidFill>
                <a:latin typeface="Helvetica"/>
              </a:defRPr>
            </a:pPr>
            <a:r>
              <a:t>THE CCC FORMULA:  Cash Conversion Cycle  =  Days Inventory Outstanding (DIO) + Days Sales Outstanding (DSO) − Days Payables Outstanding (DPO)</a:t>
            </a:r>
          </a:p>
          <a:p>
            <a:pPr>
              <a:spcBef>
                <a:spcPts val="300"/>
              </a:spcBef>
              <a:defRPr sz="1100">
                <a:solidFill>
                  <a:srgbClr val="10B981"/>
                </a:solidFill>
                <a:latin typeface="Arial"/>
              </a:defRPr>
            </a:pPr>
            <a:r>
              <a:t>Traditional Workshop: DIO (30d) + DSO (20d) + WIP (15d) = ~65 Days  vs  AutoPulse Fintech: DIO (12d) + DSO (2d) + WIP (3d) = ~17 Days</a:t>
            </a:r>
          </a:p>
        </p:txBody>
      </p:sp>
      <p:pic>
        <p:nvPicPr>
          <p:cNvPr id="5" name="Picture 4" descr="diagram_ccc.png"/>
          <p:cNvPicPr>
            <a:picLocks noChangeAspect="1"/>
          </p:cNvPicPr>
          <p:nvPr/>
        </p:nvPicPr>
        <p:blipFill>
          <a:blip r:embed="rId2"/>
          <a:stretch>
            <a:fillRect/>
          </a:stretch>
        </p:blipFill>
        <p:spPr>
          <a:xfrm>
            <a:off x="731520" y="2468880"/>
            <a:ext cx="6583680" cy="2987952"/>
          </a:xfrm>
          <a:prstGeom prst="rect">
            <a:avLst/>
          </a:prstGeom>
        </p:spPr>
      </p:pic>
      <p:sp>
        <p:nvSpPr>
          <p:cNvPr id="6" name="Rounded Rectangle 5"/>
          <p:cNvSpPr/>
          <p:nvPr/>
        </p:nvSpPr>
        <p:spPr>
          <a:xfrm>
            <a:off x="7589520" y="2468880"/>
            <a:ext cx="3840480" cy="384048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651760"/>
            <a:ext cx="3474720" cy="3474720"/>
          </a:xfrm>
          <a:prstGeom prst="rect">
            <a:avLst/>
          </a:prstGeom>
          <a:noFill/>
        </p:spPr>
        <p:txBody>
          <a:bodyPr wrap="square">
            <a:spAutoFit/>
          </a:bodyPr>
          <a:lstStyle/>
          <a:p>
            <a:pPr>
              <a:spcAft>
                <a:spcPts val="1000"/>
              </a:spcAft>
              <a:defRPr sz="1200" b="1">
                <a:solidFill>
                  <a:srgbClr val="10B981"/>
                </a:solidFill>
                <a:latin typeface="Helvetica"/>
              </a:defRPr>
            </a:pPr>
            <a:r>
              <a:t>WORKING CAPITAL IMPACT</a:t>
            </a:r>
            <a:r>
              <a:rPr sz="1100" b="1">
                <a:solidFill>
                  <a:srgbClr val="10B981"/>
                </a:solidFill>
                <a:latin typeface="Helvetica"/>
              </a:rPr>
              <a:t>•  Trapped Cash Released: </a:t>
            </a:r>
            <a:r>
              <a:rPr sz="1000">
                <a:solidFill>
                  <a:srgbClr val="94A3B8"/>
                </a:solidFill>
                <a:latin typeface="Arial"/>
              </a:rPr>
              <a:t>Accelerating receivables and WIP frees ~LKR 1.5M to 2.0M in liquid operating cash.</a:t>
            </a:r>
          </a:p>
          <a:p>
            <a:pPr>
              <a:spcAft>
                <a:spcPts val="1000"/>
              </a:spcAft>
            </a:pPr>
            <a:r>
              <a:rPr sz="1100" b="1">
                <a:solidFill>
                  <a:srgbClr val="F8FAFC"/>
                </a:solidFill>
                <a:latin typeface="Helvetica"/>
              </a:rPr>
              <a:t>•  Zero Overdraft Need: </a:t>
            </a:r>
            <a:r>
              <a:rPr sz="1000">
                <a:solidFill>
                  <a:srgbClr val="94A3B8"/>
                </a:solidFill>
                <a:latin typeface="Arial"/>
              </a:rPr>
              <a:t>Self-funded cash flow eliminates reliance on high-interest (20%+) emergency loans.</a:t>
            </a:r>
          </a:p>
          <a:p>
            <a:pPr>
              <a:spcAft>
                <a:spcPts val="1000"/>
              </a:spcAft>
            </a:pPr>
            <a:r>
              <a:rPr sz="1100" b="1">
                <a:solidFill>
                  <a:srgbClr val="06B6D4"/>
                </a:solidFill>
                <a:latin typeface="Helvetica"/>
              </a:rPr>
              <a:t>•  Eliminated Unbilled WIP: </a:t>
            </a:r>
            <a:r>
              <a:rPr sz="1000">
                <a:solidFill>
                  <a:srgbClr val="94A3B8"/>
                </a:solidFill>
                <a:latin typeface="Arial"/>
              </a:rPr>
              <a:t>Mechanics cannot deliver a vehicle without the system registering every fitted part.</a:t>
            </a:r>
          </a:p>
          <a:p>
            <a:pPr>
              <a:spcAft>
                <a:spcPts val="1000"/>
              </a:spcAft>
            </a:pPr>
            <a:r>
              <a:rPr sz="1100" b="1">
                <a:solidFill>
                  <a:srgbClr val="F59E0B"/>
                </a:solidFill>
                <a:latin typeface="Helvetica"/>
              </a:rPr>
              <a:t>•  Debtors Ageing Alert: </a:t>
            </a:r>
            <a:r>
              <a:rPr sz="1000">
                <a:solidFill>
                  <a:srgbClr val="94A3B8"/>
                </a:solidFill>
                <a:latin typeface="Arial"/>
              </a:rPr>
              <a:t>Real-time aging buckets identify overdue customer balances before they turn into bad debts.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3  |  5:15 - 6:00</a:t>
            </a:r>
          </a:p>
          <a:p>
            <a:pPr>
              <a:spcBef>
                <a:spcPts val="400"/>
              </a:spcBef>
              <a:defRPr sz="2200" b="1">
                <a:solidFill>
                  <a:srgbClr val="F8FAFC"/>
                </a:solidFill>
                <a:latin typeface="Helvetica"/>
              </a:defRPr>
            </a:pPr>
            <a:r>
              <a:t>Inventory Optimization: Stopping Working Capital Leaks</a:t>
            </a:r>
          </a:p>
          <a:p>
            <a:pPr>
              <a:spcBef>
                <a:spcPts val="300"/>
              </a:spcBef>
              <a:defRPr sz="1100">
                <a:solidFill>
                  <a:srgbClr val="94A3B8"/>
                </a:solidFill>
                <a:latin typeface="Arial"/>
              </a:defRPr>
            </a:pPr>
            <a:r>
              <a:t>Treating parts as invested working capital, not unmonitored physical metal on a shelf</a:t>
            </a:r>
          </a:p>
        </p:txBody>
      </p:sp>
      <p:pic>
        <p:nvPicPr>
          <p:cNvPr id="3" name="Picture 2" descr="inventory_with_items.png"/>
          <p:cNvPicPr>
            <a:picLocks noChangeAspect="1"/>
          </p:cNvPicPr>
          <p:nvPr/>
        </p:nvPicPr>
        <p:blipFill>
          <a:blip r:embed="rId2"/>
          <a:stretch>
            <a:fillRect/>
          </a:stretch>
        </p:blipFill>
        <p:spPr>
          <a:xfrm>
            <a:off x="731520" y="1371600"/>
            <a:ext cx="6035040" cy="3771900"/>
          </a:xfrm>
          <a:prstGeom prst="rect">
            <a:avLst/>
          </a:prstGeom>
        </p:spPr>
      </p:pic>
      <p:sp>
        <p:nvSpPr>
          <p:cNvPr id="4" name="Rounded Rectangle 3"/>
          <p:cNvSpPr/>
          <p:nvPr/>
        </p:nvSpPr>
        <p:spPr>
          <a:xfrm>
            <a:off x="6949440" y="1371600"/>
            <a:ext cx="448056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0" y="1554480"/>
            <a:ext cx="4114800" cy="4572000"/>
          </a:xfrm>
          <a:prstGeom prst="rect">
            <a:avLst/>
          </a:prstGeom>
          <a:noFill/>
        </p:spPr>
        <p:txBody>
          <a:bodyPr wrap="square">
            <a:spAutoFit/>
          </a:bodyPr>
          <a:lstStyle/>
          <a:p>
            <a:pPr>
              <a:spcAft>
                <a:spcPts val="1000"/>
              </a:spcAft>
              <a:defRPr sz="1300" b="1">
                <a:solidFill>
                  <a:srgbClr val="06B6D4"/>
                </a:solidFill>
                <a:latin typeface="Helvetica"/>
              </a:defRPr>
            </a:pPr>
            <a:r>
              <a:t>INVENTORY FINANCE PRINCIPLES</a:t>
            </a:r>
            <a:r>
              <a:rPr sz="1100" b="1">
                <a:solidFill>
                  <a:srgbClr val="F8FAFC"/>
                </a:solidFill>
                <a:latin typeface="Helvetica"/>
              </a:rPr>
              <a:t>•  Parts Are Not Expenses: </a:t>
            </a:r>
            <a:r>
              <a:rPr sz="1000">
                <a:solidFill>
                  <a:srgbClr val="94A3B8"/>
                </a:solidFill>
                <a:latin typeface="Arial"/>
              </a:rPr>
              <a:t>Purchasing parts swaps Cash for Stock asset; cost is recognized only when fitted to a customer's job card.</a:t>
            </a:r>
          </a:p>
          <a:p>
            <a:pPr>
              <a:spcAft>
                <a:spcPts val="1000"/>
              </a:spcAft>
            </a:pPr>
            <a:r>
              <a:rPr sz="1100" b="1">
                <a:solidFill>
                  <a:srgbClr val="10B981"/>
                </a:solidFill>
                <a:latin typeface="Helvetica"/>
              </a:rPr>
              <a:t>•  Minimum Stock Levels (MOL): </a:t>
            </a:r>
            <a:r>
              <a:rPr sz="1000">
                <a:solidFill>
                  <a:srgbClr val="94A3B8"/>
                </a:solidFill>
                <a:latin typeface="Arial"/>
              </a:rPr>
              <a:t>Automated threshold alerts prevent stockouts of critical consumables (filters, brake pads, synthetic oil).</a:t>
            </a:r>
          </a:p>
          <a:p>
            <a:pPr>
              <a:spcAft>
                <a:spcPts val="1000"/>
              </a:spcAft>
            </a:pPr>
            <a:r>
              <a:rPr sz="1100" b="1">
                <a:solidFill>
                  <a:srgbClr val="F59E0B"/>
                </a:solidFill>
                <a:latin typeface="Helvetica"/>
              </a:rPr>
              <a:t>•  Stopping Silent Cash Bleed: </a:t>
            </a:r>
            <a:r>
              <a:rPr sz="1000">
                <a:solidFill>
                  <a:srgbClr val="94A3B8"/>
                </a:solidFill>
                <a:latin typeface="Arial"/>
              </a:rPr>
              <a:t>Workshops restock without recording cash outflows; AutoPulse auto-reconciles stock count to ledger balance.</a:t>
            </a:r>
          </a:p>
          <a:p>
            <a:pPr>
              <a:spcAft>
                <a:spcPts val="1000"/>
              </a:spcAft>
            </a:pPr>
            <a:r>
              <a:rPr sz="1100" b="1">
                <a:solidFill>
                  <a:srgbClr val="F8FAFC"/>
                </a:solidFill>
                <a:latin typeface="Helvetica"/>
              </a:rPr>
              <a:t>•  Zero Negative Stock: </a:t>
            </a:r>
            <a:r>
              <a:rPr sz="1000">
                <a:solidFill>
                  <a:srgbClr val="94A3B8"/>
                </a:solidFill>
                <a:latin typeface="Arial"/>
              </a:rPr>
              <a:t>Strict database constraints (stock &gt;= 0) ensure no mechanic can fit a part that was never checked into inventory.</a:t>
            </a:r>
          </a:p>
          <a:p>
            <a:pPr>
              <a:spcAft>
                <a:spcPts val="1000"/>
              </a:spcAft>
            </a:pPr>
            <a:r>
              <a:rPr sz="1100" b="1">
                <a:solidFill>
                  <a:srgbClr val="10B981"/>
                </a:solidFill>
                <a:latin typeface="Helvetica"/>
              </a:rPr>
              <a:t>•  Holding Cost Reduction: </a:t>
            </a:r>
            <a:r>
              <a:rPr sz="1000">
                <a:solidFill>
                  <a:srgbClr val="94A3B8"/>
                </a:solidFill>
                <a:latin typeface="Arial"/>
              </a:rPr>
              <a:t>Reduces dead capital lockup by 40%, directly lowering carrying and obsolescence costs.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3  |  6:00 - 6:45</a:t>
            </a:r>
          </a:p>
          <a:p>
            <a:pPr>
              <a:spcBef>
                <a:spcPts val="400"/>
              </a:spcBef>
              <a:defRPr sz="2200" b="1">
                <a:solidFill>
                  <a:srgbClr val="F8FAFC"/>
                </a:solidFill>
                <a:latin typeface="Helvetica"/>
              </a:defRPr>
            </a:pPr>
            <a:r>
              <a:t>Revenue Composition: Labour vs Parts Margin Decomposition</a:t>
            </a:r>
          </a:p>
          <a:p>
            <a:pPr>
              <a:spcBef>
                <a:spcPts val="300"/>
              </a:spcBef>
              <a:defRPr sz="1100">
                <a:solidFill>
                  <a:srgbClr val="94A3B8"/>
                </a:solidFill>
                <a:latin typeface="Arial"/>
              </a:defRPr>
            </a:pPr>
            <a:r>
              <a:t>Why revenue must come from authoritative invoices, and why margin separation matters</a:t>
            </a:r>
          </a:p>
        </p:txBody>
      </p:sp>
      <p:pic>
        <p:nvPicPr>
          <p:cNvPr id="3" name="Picture 2" descr="diagram_margins.png"/>
          <p:cNvPicPr>
            <a:picLocks noChangeAspect="1"/>
          </p:cNvPicPr>
          <p:nvPr/>
        </p:nvPicPr>
        <p:blipFill>
          <a:blip r:embed="rId2"/>
          <a:stretch>
            <a:fillRect/>
          </a:stretch>
        </p:blipFill>
        <p:spPr>
          <a:xfrm>
            <a:off x="731520" y="1371600"/>
            <a:ext cx="6217920" cy="2849741"/>
          </a:xfrm>
          <a:prstGeom prst="rect">
            <a:avLst/>
          </a:prstGeom>
        </p:spPr>
      </p:pic>
      <p:sp>
        <p:nvSpPr>
          <p:cNvPr id="4" name="Rounded Rectangle 3"/>
          <p:cNvSpPr/>
          <p:nvPr/>
        </p:nvSpPr>
        <p:spPr>
          <a:xfrm>
            <a:off x="7132320" y="1371600"/>
            <a:ext cx="429768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554480"/>
            <a:ext cx="3931920" cy="4572000"/>
          </a:xfrm>
          <a:prstGeom prst="rect">
            <a:avLst/>
          </a:prstGeom>
          <a:noFill/>
        </p:spPr>
        <p:txBody>
          <a:bodyPr wrap="square">
            <a:spAutoFit/>
          </a:bodyPr>
          <a:lstStyle/>
          <a:p>
            <a:pPr>
              <a:spcAft>
                <a:spcPts val="1000"/>
              </a:spcAft>
              <a:defRPr sz="1300" b="1">
                <a:solidFill>
                  <a:srgbClr val="10B981"/>
                </a:solidFill>
                <a:latin typeface="Helvetica"/>
              </a:defRPr>
            </a:pPr>
            <a:r>
              <a:t>STRATEGIC MARGIN INSIGHTS</a:t>
            </a:r>
            <a:r>
              <a:rPr sz="1100" b="1">
                <a:solidFill>
                  <a:srgbClr val="06B6D4"/>
                </a:solidFill>
                <a:latin typeface="Helvetica"/>
              </a:rPr>
              <a:t>•  Labour Is Pure Time Sold: </a:t>
            </a:r>
            <a:r>
              <a:rPr sz="1000">
                <a:solidFill>
                  <a:srgbClr val="94A3B8"/>
                </a:solidFill>
                <a:latin typeface="Arial"/>
              </a:rPr>
              <a:t>Yields ~82% gross margin; this is the core profit driver of engineering expertise.</a:t>
            </a:r>
          </a:p>
          <a:p>
            <a:pPr>
              <a:spcAft>
                <a:spcPts val="1000"/>
              </a:spcAft>
            </a:pPr>
            <a:r>
              <a:rPr sz="1100" b="1">
                <a:solidFill>
                  <a:srgbClr val="8B5CF6"/>
                </a:solidFill>
                <a:latin typeface="Helvetica"/>
              </a:rPr>
              <a:t>•  Parts Are Pass-Through Goods: </a:t>
            </a:r>
            <a:r>
              <a:rPr sz="1000">
                <a:solidFill>
                  <a:srgbClr val="94A3B8"/>
                </a:solidFill>
                <a:latin typeface="Arial"/>
              </a:rPr>
              <a:t>Yields ~28% gross margin; carries carrying risk, warranty risk, and supplier price volatility.</a:t>
            </a:r>
          </a:p>
          <a:p>
            <a:pPr>
              <a:spcAft>
                <a:spcPts val="1000"/>
              </a:spcAft>
            </a:pPr>
            <a:r>
              <a:rPr sz="1100" b="1">
                <a:solidFill>
                  <a:srgbClr val="F59E0B"/>
                </a:solidFill>
                <a:latin typeface="Helvetica"/>
              </a:rPr>
              <a:t>•  The 'Free Labour' Trap Broken: </a:t>
            </a:r>
            <a:r>
              <a:rPr sz="1000">
                <a:solidFill>
                  <a:srgbClr val="94A3B8"/>
                </a:solidFill>
                <a:latin typeface="Arial"/>
              </a:rPr>
              <a:t>Workshops often discount labour to justify costly parts; AutoPulse separates both on the invoice.</a:t>
            </a:r>
          </a:p>
          <a:p>
            <a:pPr>
              <a:spcAft>
                <a:spcPts val="1000"/>
              </a:spcAft>
            </a:pPr>
            <a:r>
              <a:rPr sz="1100" b="1">
                <a:solidFill>
                  <a:srgbClr val="F8FAFC"/>
                </a:solidFill>
                <a:latin typeface="Helvetica"/>
              </a:rPr>
              <a:t>•  Accrual Principle Enforced: </a:t>
            </a:r>
            <a:r>
              <a:rPr sz="1000">
                <a:solidFill>
                  <a:srgbClr val="94A3B8"/>
                </a:solidFill>
                <a:latin typeface="Arial"/>
              </a:rPr>
              <a:t>Revenue is recognized upon job completion, while cash settlement is a separate event on its own date.</a:t>
            </a:r>
          </a:p>
          <a:p>
            <a:pPr>
              <a:spcAft>
                <a:spcPts val="1000"/>
              </a:spcAft>
            </a:pPr>
            <a:r>
              <a:rPr sz="1100" b="1">
                <a:solidFill>
                  <a:srgbClr val="10B981"/>
                </a:solidFill>
                <a:latin typeface="Helvetica"/>
              </a:rPr>
              <a:t>•  Zero Discrepancy Books: </a:t>
            </a:r>
            <a:r>
              <a:rPr sz="1000">
                <a:solidFill>
                  <a:srgbClr val="94A3B8"/>
                </a:solidFill>
                <a:latin typeface="Arial"/>
              </a:rPr>
              <a:t>Double-entry rules ensure debits equal credits at all times across all ledger accounts.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3  |  6:45 - 8:00</a:t>
            </a:r>
          </a:p>
          <a:p>
            <a:pPr>
              <a:spcBef>
                <a:spcPts val="400"/>
              </a:spcBef>
              <a:defRPr sz="2200" b="1">
                <a:solidFill>
                  <a:srgbClr val="F8FAFC"/>
                </a:solidFill>
                <a:latin typeface="Helvetica"/>
              </a:defRPr>
            </a:pPr>
            <a:r>
              <a:t>Statutory Compliance: Sri Lankan Fiscal Year Audit Pack</a:t>
            </a:r>
          </a:p>
          <a:p>
            <a:pPr>
              <a:spcBef>
                <a:spcPts val="300"/>
              </a:spcBef>
              <a:defRPr sz="1100">
                <a:solidFill>
                  <a:srgbClr val="94A3B8"/>
                </a:solidFill>
                <a:latin typeface="Arial"/>
              </a:defRPr>
            </a:pPr>
            <a:r>
              <a:t>Automating statutory compliance (1 April – 31 March) without hiring an expensive accountant</a:t>
            </a:r>
          </a:p>
        </p:txBody>
      </p:sp>
      <p:pic>
        <p:nvPicPr>
          <p:cNvPr id="3" name="Picture 2" descr="diagram_statutory.png"/>
          <p:cNvPicPr>
            <a:picLocks noChangeAspect="1"/>
          </p:cNvPicPr>
          <p:nvPr/>
        </p:nvPicPr>
        <p:blipFill>
          <a:blip r:embed="rId2"/>
          <a:stretch>
            <a:fillRect/>
          </a:stretch>
        </p:blipFill>
        <p:spPr>
          <a:xfrm>
            <a:off x="731520" y="1371600"/>
            <a:ext cx="6583680" cy="2998778"/>
          </a:xfrm>
          <a:prstGeom prst="rect">
            <a:avLst/>
          </a:prstGeom>
        </p:spPr>
      </p:pic>
      <p:sp>
        <p:nvSpPr>
          <p:cNvPr id="4" name="Rounded Rectangle 3"/>
          <p:cNvSpPr/>
          <p:nvPr/>
        </p:nvSpPr>
        <p:spPr>
          <a:xfrm>
            <a:off x="7498079" y="1371600"/>
            <a:ext cx="3931920" cy="3749039"/>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554480"/>
            <a:ext cx="3566160" cy="3383280"/>
          </a:xfrm>
          <a:prstGeom prst="rect">
            <a:avLst/>
          </a:prstGeom>
          <a:noFill/>
        </p:spPr>
        <p:txBody>
          <a:bodyPr wrap="square">
            <a:spAutoFit/>
          </a:bodyPr>
          <a:lstStyle/>
          <a:p>
            <a:pPr>
              <a:spcAft>
                <a:spcPts val="600"/>
              </a:spcAft>
              <a:defRPr sz="1200" b="1">
                <a:solidFill>
                  <a:srgbClr val="06B6D4"/>
                </a:solidFill>
                <a:latin typeface="Helvetica"/>
              </a:defRPr>
            </a:pPr>
            <a:r>
              <a:t>THE STATUTORY PACK</a:t>
            </a:r>
            <a:r>
              <a:rPr sz="1050" b="1">
                <a:solidFill>
                  <a:srgbClr val="F8FAFC"/>
                </a:solidFill>
                <a:latin typeface="Helvetica"/>
              </a:rPr>
              <a:t>•  Financial Performance: </a:t>
            </a:r>
            <a:r>
              <a:rPr sz="950">
                <a:solidFill>
                  <a:srgbClr val="94A3B8"/>
                </a:solidFill>
                <a:latin typeface="Arial"/>
              </a:rPr>
              <a:t>P&amp;L on accrual basis; separate labour &amp; parts.</a:t>
            </a:r>
          </a:p>
          <a:p>
            <a:pPr>
              <a:spcAft>
                <a:spcPts val="600"/>
              </a:spcAft>
            </a:pPr>
            <a:r>
              <a:rPr sz="1050" b="1">
                <a:solidFill>
                  <a:srgbClr val="F8FAFC"/>
                </a:solidFill>
                <a:latin typeface="Helvetica"/>
              </a:rPr>
              <a:t>•  Financial Position: </a:t>
            </a:r>
            <a:r>
              <a:rPr sz="950">
                <a:solidFill>
                  <a:srgbClr val="94A3B8"/>
                </a:solidFill>
                <a:latin typeface="Arial"/>
              </a:rPr>
              <a:t>Balance sheet verified off Trial Balance.</a:t>
            </a:r>
          </a:p>
          <a:p>
            <a:pPr>
              <a:spcAft>
                <a:spcPts val="600"/>
              </a:spcAft>
            </a:pPr>
            <a:r>
              <a:rPr sz="1050" b="1">
                <a:solidFill>
                  <a:srgbClr val="F8FAFC"/>
                </a:solidFill>
                <a:latin typeface="Helvetica"/>
              </a:rPr>
              <a:t>•  Statement of Cash Flows: </a:t>
            </a:r>
            <a:r>
              <a:rPr sz="950">
                <a:solidFill>
                  <a:srgbClr val="94A3B8"/>
                </a:solidFill>
                <a:latin typeface="Arial"/>
              </a:rPr>
              <a:t>Operating, investing, and financing flows.</a:t>
            </a:r>
          </a:p>
          <a:p>
            <a:pPr>
              <a:spcAft>
                <a:spcPts val="600"/>
              </a:spcAft>
            </a:pPr>
            <a:r>
              <a:rPr sz="1050" b="1">
                <a:solidFill>
                  <a:srgbClr val="F8FAFC"/>
                </a:solidFill>
                <a:latin typeface="Helvetica"/>
              </a:rPr>
              <a:t>•  Changes in Equity: </a:t>
            </a:r>
            <a:r>
              <a:rPr sz="950">
                <a:solidFill>
                  <a:srgbClr val="94A3B8"/>
                </a:solidFill>
                <a:latin typeface="Arial"/>
              </a:rPr>
              <a:t>Retained earnings b/f and stated capital.</a:t>
            </a:r>
          </a:p>
          <a:p>
            <a:pPr>
              <a:spcAft>
                <a:spcPts val="600"/>
              </a:spcAft>
            </a:pPr>
            <a:r>
              <a:rPr sz="1050" b="1">
                <a:solidFill>
                  <a:srgbClr val="10B981"/>
                </a:solidFill>
                <a:latin typeface="Helvetica"/>
              </a:rPr>
              <a:t>•  Trial Balance &amp; Ledger: </a:t>
            </a:r>
            <a:r>
              <a:rPr sz="950">
                <a:solidFill>
                  <a:srgbClr val="94A3B8"/>
                </a:solidFill>
                <a:latin typeface="Arial"/>
              </a:rPr>
              <a:t>Zero-variance audit trail for tax authorities.</a:t>
            </a:r>
          </a:p>
        </p:txBody>
      </p:sp>
      <p:sp>
        <p:nvSpPr>
          <p:cNvPr id="6" name="Rounded Rectangle 5"/>
          <p:cNvSpPr/>
          <p:nvPr/>
        </p:nvSpPr>
        <p:spPr>
          <a:xfrm>
            <a:off x="731520" y="5303520"/>
            <a:ext cx="10728655" cy="10972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94960"/>
            <a:ext cx="10332720" cy="914400"/>
          </a:xfrm>
          <a:prstGeom prst="rect">
            <a:avLst/>
          </a:prstGeom>
          <a:noFill/>
        </p:spPr>
        <p:txBody>
          <a:bodyPr wrap="square">
            <a:spAutoFit/>
          </a:bodyPr>
          <a:lstStyle/>
          <a:p>
            <a:pPr>
              <a:defRPr sz="1100" i="1">
                <a:solidFill>
                  <a:srgbClr val="F8FAFC"/>
                </a:solidFill>
                <a:latin typeface="Helvetica"/>
              </a:defRPr>
            </a:pPr>
            <a:r>
              <a:t>"In most SMEs, profit, cash, receivables, payables, and inventory live in someone's head or scattered across notebooks. AutoPulse enforces real financial discipline. It manages cash on purpose, not by accident, and makes decisions on facts, not feelings."</a:t>
            </a:r>
          </a:p>
          <a:p>
            <a:pPr>
              <a:spcBef>
                <a:spcPts val="300"/>
              </a:spcBef>
              <a:defRPr sz="1000" b="1">
                <a:solidFill>
                  <a:srgbClr val="10B981"/>
                </a:solidFill>
                <a:latin typeface="Arial"/>
              </a:defRPr>
            </a:pPr>
            <a:r>
              <a:t>— Group B15 Core Managerial Finance Thesis  •  Enterprise control without the overhead of an in-house finance team.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4  |  8:00 - 8:45</a:t>
            </a:r>
          </a:p>
          <a:p>
            <a:pPr>
              <a:spcBef>
                <a:spcPts val="400"/>
              </a:spcBef>
              <a:defRPr sz="2200" b="1">
                <a:solidFill>
                  <a:srgbClr val="F8FAFC"/>
                </a:solidFill>
                <a:latin typeface="Helvetica"/>
              </a:defRPr>
            </a:pPr>
            <a:r>
              <a:t>Strategic Advantage: Customer Retention &amp; Communication Moat</a:t>
            </a:r>
          </a:p>
          <a:p>
            <a:pPr>
              <a:spcBef>
                <a:spcPts val="300"/>
              </a:spcBef>
              <a:defRPr sz="1100">
                <a:solidFill>
                  <a:srgbClr val="94A3B8"/>
                </a:solidFill>
                <a:latin typeface="Arial"/>
              </a:defRPr>
            </a:pPr>
            <a:r>
              <a:t>How fintech touchpoints and transparent customer tracking build high switching costs</a:t>
            </a:r>
          </a:p>
        </p:txBody>
      </p:sp>
      <p:pic>
        <p:nvPicPr>
          <p:cNvPr id="3" name="Picture 2" descr="08-customers.png"/>
          <p:cNvPicPr>
            <a:picLocks noChangeAspect="1"/>
          </p:cNvPicPr>
          <p:nvPr/>
        </p:nvPicPr>
        <p:blipFill>
          <a:blip r:embed="rId2"/>
          <a:stretch>
            <a:fillRect/>
          </a:stretch>
        </p:blipFill>
        <p:spPr>
          <a:xfrm>
            <a:off x="731520" y="1371600"/>
            <a:ext cx="6035040" cy="3771900"/>
          </a:xfrm>
          <a:prstGeom prst="rect">
            <a:avLst/>
          </a:prstGeom>
        </p:spPr>
      </p:pic>
      <p:sp>
        <p:nvSpPr>
          <p:cNvPr id="4" name="Rounded Rectangle 3"/>
          <p:cNvSpPr/>
          <p:nvPr/>
        </p:nvSpPr>
        <p:spPr>
          <a:xfrm>
            <a:off x="6949440" y="1371600"/>
            <a:ext cx="448056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0" y="1554480"/>
            <a:ext cx="4114800" cy="4572000"/>
          </a:xfrm>
          <a:prstGeom prst="rect">
            <a:avLst/>
          </a:prstGeom>
          <a:noFill/>
        </p:spPr>
        <p:txBody>
          <a:bodyPr wrap="square">
            <a:spAutoFit/>
          </a:bodyPr>
          <a:lstStyle/>
          <a:p>
            <a:pPr>
              <a:spcAft>
                <a:spcPts val="1200"/>
              </a:spcAft>
              <a:defRPr sz="1300" b="1">
                <a:solidFill>
                  <a:srgbClr val="06B6D4"/>
                </a:solidFill>
                <a:latin typeface="Helvetica"/>
              </a:defRPr>
            </a:pPr>
            <a:r>
              <a:t>THE 4 STRATEGIC MOATS</a:t>
            </a:r>
            <a:r>
              <a:rPr sz="1150" b="1">
                <a:solidFill>
                  <a:srgbClr val="10B981"/>
                </a:solidFill>
                <a:latin typeface="Helvetica"/>
              </a:rPr>
              <a:t>•  Radical Transparency: </a:t>
            </a:r>
            <a:r>
              <a:rPr sz="1050">
                <a:solidFill>
                  <a:srgbClr val="94A3B8"/>
                </a:solidFill>
                <a:latin typeface="Arial"/>
              </a:rPr>
              <a:t>Live customer job status portal eliminates owner anxiety; clients see work in progress in real time.</a:t>
            </a:r>
          </a:p>
          <a:p>
            <a:pPr>
              <a:spcAft>
                <a:spcPts val="1200"/>
              </a:spcAft>
            </a:pPr>
            <a:r>
              <a:rPr sz="1150" b="1">
                <a:solidFill>
                  <a:srgbClr val="06B6D4"/>
                </a:solidFill>
                <a:latin typeface="Helvetica"/>
              </a:rPr>
              <a:t>•  Frictionless WhatsApp Billing: </a:t>
            </a:r>
            <a:r>
              <a:rPr sz="1050">
                <a:solidFill>
                  <a:srgbClr val="94A3B8"/>
                </a:solidFill>
                <a:latin typeface="Arial"/>
              </a:rPr>
              <a:t>Direct WhatsApp invoice delivery with LankaQR payment details leads to 85% same-day settlements.</a:t>
            </a:r>
          </a:p>
          <a:p>
            <a:pPr>
              <a:spcAft>
                <a:spcPts val="1200"/>
              </a:spcAft>
            </a:pPr>
            <a:r>
              <a:rPr sz="1150" b="1">
                <a:solidFill>
                  <a:srgbClr val="F8FAFC"/>
                </a:solidFill>
                <a:latin typeface="Helvetica"/>
              </a:rPr>
              <a:t>•  The Customer Data Asset: </a:t>
            </a:r>
            <a:r>
              <a:rPr sz="1050">
                <a:solidFill>
                  <a:srgbClr val="94A3B8"/>
                </a:solidFill>
                <a:latin typeface="Arial"/>
              </a:rPr>
              <a:t>Complete vehicle service history, mileage logs, and past repair registries create unbeatable switching barriers.</a:t>
            </a:r>
          </a:p>
          <a:p>
            <a:pPr>
              <a:spcAft>
                <a:spcPts val="1200"/>
              </a:spcAft>
            </a:pPr>
            <a:r>
              <a:rPr sz="1150" b="1">
                <a:solidFill>
                  <a:srgbClr val="F59E0B"/>
                </a:solidFill>
                <a:latin typeface="Helvetica"/>
              </a:rPr>
              <a:t>•  Supplier Credit Negotiation: </a:t>
            </a:r>
            <a:r>
              <a:rPr sz="1050">
                <a:solidFill>
                  <a:srgbClr val="94A3B8"/>
                </a:solidFill>
                <a:latin typeface="Arial"/>
              </a:rPr>
              <a:t>Transparent payables tracking gives the workshop bargaining power for favorable credit terms.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4  |  8:45 - 9:30</a:t>
            </a:r>
          </a:p>
          <a:p>
            <a:pPr>
              <a:spcBef>
                <a:spcPts val="400"/>
              </a:spcBef>
              <a:defRPr sz="2200" b="1">
                <a:solidFill>
                  <a:srgbClr val="F8FAFC"/>
                </a:solidFill>
                <a:latin typeface="Helvetica"/>
              </a:defRPr>
            </a:pPr>
            <a:r>
              <a:t>Business Resilience, ROI &amp; Long-Term Scalability</a:t>
            </a:r>
          </a:p>
          <a:p>
            <a:pPr>
              <a:spcBef>
                <a:spcPts val="300"/>
              </a:spcBef>
              <a:defRPr sz="1100">
                <a:solidFill>
                  <a:srgbClr val="94A3B8"/>
                </a:solidFill>
                <a:latin typeface="Arial"/>
              </a:defRPr>
            </a:pPr>
            <a:r>
              <a:t>Quantifying the financial return on investment and organizational peace of mind</a:t>
            </a:r>
          </a:p>
        </p:txBody>
      </p:sp>
      <p:sp>
        <p:nvSpPr>
          <p:cNvPr id="3" name="Rounded Rectangle 2"/>
          <p:cNvSpPr/>
          <p:nvPr/>
        </p:nvSpPr>
        <p:spPr>
          <a:xfrm>
            <a:off x="731520" y="1371600"/>
            <a:ext cx="3383280" cy="4937760"/>
          </a:xfrm>
          <a:prstGeom prst="roundRect">
            <a:avLst/>
          </a:prstGeom>
          <a:solidFill>
            <a:srgbClr val="131C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3017520" cy="4572000"/>
          </a:xfrm>
          <a:prstGeom prst="rect">
            <a:avLst/>
          </a:prstGeom>
          <a:noFill/>
        </p:spPr>
        <p:txBody>
          <a:bodyPr wrap="square">
            <a:spAutoFit/>
          </a:bodyPr>
          <a:lstStyle/>
          <a:p>
            <a:pPr>
              <a:spcAft>
                <a:spcPts val="1000"/>
              </a:spcAft>
              <a:defRPr sz="1300" b="1">
                <a:solidFill>
                  <a:srgbClr val="06B6D4"/>
                </a:solidFill>
                <a:latin typeface="Helvetica"/>
              </a:defRPr>
            </a:pPr>
            <a:r>
              <a:t>Administrative Cost Savings</a:t>
            </a:r>
          </a:p>
          <a:p>
            <a:pPr>
              <a:spcAft>
                <a:spcPts val="2000"/>
              </a:spcAft>
              <a:defRPr sz="1100">
                <a:solidFill>
                  <a:srgbClr val="94A3B8"/>
                </a:solidFill>
                <a:latin typeface="Arial"/>
              </a:defRPr>
            </a:pPr>
            <a:r>
              <a:t>Saves 15+ hours per week of manual paperwork, phone coordination, and billing reconciliations.</a:t>
            </a:r>
          </a:p>
          <a:p>
            <a:pPr>
              <a:spcAft>
                <a:spcPts val="400"/>
              </a:spcAft>
              <a:defRPr sz="2000" b="1">
                <a:solidFill>
                  <a:srgbClr val="F8FAFC"/>
                </a:solidFill>
                <a:latin typeface="Helvetica"/>
              </a:defRPr>
            </a:pPr>
            <a:r>
              <a:t>LKR 100,000+ / mo</a:t>
            </a:r>
          </a:p>
          <a:p>
            <a:pPr>
              <a:defRPr sz="1000">
                <a:solidFill>
                  <a:srgbClr val="06B6D4"/>
                </a:solidFill>
                <a:latin typeface="Arial"/>
              </a:defRPr>
            </a:pPr>
            <a:r>
              <a:t>Equivalent to a full-time accountant saved</a:t>
            </a:r>
          </a:p>
        </p:txBody>
      </p:sp>
      <p:sp>
        <p:nvSpPr>
          <p:cNvPr id="5" name="Rounded Rectangle 4"/>
          <p:cNvSpPr/>
          <p:nvPr/>
        </p:nvSpPr>
        <p:spPr>
          <a:xfrm>
            <a:off x="4389120" y="1371600"/>
            <a:ext cx="3383280" cy="4937760"/>
          </a:xfrm>
          <a:prstGeom prst="roundRect">
            <a:avLst/>
          </a:prstGeom>
          <a:solidFill>
            <a:srgbClr val="131C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554480"/>
            <a:ext cx="3017520" cy="4572000"/>
          </a:xfrm>
          <a:prstGeom prst="rect">
            <a:avLst/>
          </a:prstGeom>
          <a:noFill/>
        </p:spPr>
        <p:txBody>
          <a:bodyPr wrap="square">
            <a:spAutoFit/>
          </a:bodyPr>
          <a:lstStyle/>
          <a:p>
            <a:pPr>
              <a:spcAft>
                <a:spcPts val="1000"/>
              </a:spcAft>
              <a:defRPr sz="1300" b="1">
                <a:solidFill>
                  <a:srgbClr val="10B981"/>
                </a:solidFill>
                <a:latin typeface="Helvetica"/>
              </a:defRPr>
            </a:pPr>
            <a:r>
              <a:t>Working Capital Acceleration</a:t>
            </a:r>
          </a:p>
          <a:p>
            <a:pPr>
              <a:spcAft>
                <a:spcPts val="2000"/>
              </a:spcAft>
              <a:defRPr sz="1100">
                <a:solidFill>
                  <a:srgbClr val="94A3B8"/>
                </a:solidFill>
                <a:latin typeface="Arial"/>
              </a:defRPr>
            </a:pPr>
            <a:r>
              <a:t>Compressing CCC from 65 to 17 days frees up trapped capital from unbilled WIP and parts holding.</a:t>
            </a:r>
          </a:p>
          <a:p>
            <a:pPr>
              <a:spcAft>
                <a:spcPts val="400"/>
              </a:spcAft>
              <a:defRPr sz="2000" b="1">
                <a:solidFill>
                  <a:srgbClr val="F8FAFC"/>
                </a:solidFill>
                <a:latin typeface="Helvetica"/>
              </a:defRPr>
            </a:pPr>
            <a:r>
              <a:t>LKR 1.5M - 2.0M</a:t>
            </a:r>
          </a:p>
          <a:p>
            <a:pPr>
              <a:defRPr sz="1000">
                <a:solidFill>
                  <a:srgbClr val="10B981"/>
                </a:solidFill>
                <a:latin typeface="Arial"/>
              </a:defRPr>
            </a:pPr>
            <a:r>
              <a:t>Self-funded liquidity for workshop expansion</a:t>
            </a:r>
          </a:p>
        </p:txBody>
      </p:sp>
      <p:sp>
        <p:nvSpPr>
          <p:cNvPr id="7" name="Rounded Rectangle 6"/>
          <p:cNvSpPr/>
          <p:nvPr/>
        </p:nvSpPr>
        <p:spPr>
          <a:xfrm>
            <a:off x="8046720" y="1371600"/>
            <a:ext cx="3383280" cy="4937760"/>
          </a:xfrm>
          <a:prstGeom prst="roundRect">
            <a:avLst/>
          </a:prstGeom>
          <a:solidFill>
            <a:srgbClr val="131C31"/>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554480"/>
            <a:ext cx="3017520" cy="4572000"/>
          </a:xfrm>
          <a:prstGeom prst="rect">
            <a:avLst/>
          </a:prstGeom>
          <a:noFill/>
        </p:spPr>
        <p:txBody>
          <a:bodyPr wrap="square">
            <a:spAutoFit/>
          </a:bodyPr>
          <a:lstStyle/>
          <a:p>
            <a:pPr>
              <a:spcAft>
                <a:spcPts val="1000"/>
              </a:spcAft>
              <a:defRPr sz="1300" b="1">
                <a:solidFill>
                  <a:srgbClr val="F59E0B"/>
                </a:solidFill>
                <a:latin typeface="Helvetica"/>
              </a:defRPr>
            </a:pPr>
            <a:r>
              <a:t>Disaster-Proof Cloud Asset</a:t>
            </a:r>
          </a:p>
          <a:p>
            <a:pPr>
              <a:spcAft>
                <a:spcPts val="2000"/>
              </a:spcAft>
              <a:defRPr sz="1100">
                <a:solidFill>
                  <a:srgbClr val="94A3B8"/>
                </a:solidFill>
                <a:latin typeface="Arial"/>
              </a:defRPr>
            </a:pPr>
            <a:r>
              <a:t>Eliminates risk of lost physical invoices or notebook destruction. Bank-grade encrypted multi-tenant cloud.</a:t>
            </a:r>
          </a:p>
          <a:p>
            <a:pPr>
              <a:spcAft>
                <a:spcPts val="400"/>
              </a:spcAft>
              <a:defRPr sz="2000" b="1">
                <a:solidFill>
                  <a:srgbClr val="F8FAFC"/>
                </a:solidFill>
                <a:latin typeface="Helvetica"/>
              </a:defRPr>
            </a:pPr>
            <a:r>
              <a:t>100% Redundant</a:t>
            </a:r>
          </a:p>
          <a:p>
            <a:pPr>
              <a:defRPr sz="1000">
                <a:solidFill>
                  <a:srgbClr val="F59E0B"/>
                </a:solidFill>
                <a:latin typeface="Arial"/>
              </a:defRPr>
            </a:pPr>
            <a:r>
              <a:t>Multi-device access from phone or PC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SPEAKER 4  |  9:30 - 10:00</a:t>
            </a:r>
          </a:p>
          <a:p>
            <a:pPr>
              <a:spcBef>
                <a:spcPts val="400"/>
              </a:spcBef>
              <a:defRPr sz="2200" b="1">
                <a:solidFill>
                  <a:srgbClr val="F8FAFC"/>
                </a:solidFill>
                <a:latin typeface="Helvetica"/>
              </a:defRPr>
            </a:pPr>
            <a:r>
              <a:t>Summary &amp; Transition to Practical Demonstration</a:t>
            </a:r>
          </a:p>
          <a:p>
            <a:pPr>
              <a:spcBef>
                <a:spcPts val="300"/>
              </a:spcBef>
              <a:defRPr sz="1100">
                <a:solidFill>
                  <a:srgbClr val="94A3B8"/>
                </a:solidFill>
                <a:latin typeface="Arial"/>
              </a:defRPr>
            </a:pPr>
            <a:r>
              <a:t>Turning passionate technicians into disciplined, data-driven business leaders</a:t>
            </a:r>
          </a:p>
        </p:txBody>
      </p:sp>
      <p:sp>
        <p:nvSpPr>
          <p:cNvPr id="3" name="Rounded Rectangle 2"/>
          <p:cNvSpPr/>
          <p:nvPr/>
        </p:nvSpPr>
        <p:spPr>
          <a:xfrm>
            <a:off x="731520" y="1371600"/>
            <a:ext cx="5486400" cy="4937760"/>
          </a:xfrm>
          <a:prstGeom prst="roundRect">
            <a:avLst/>
          </a:prstGeom>
          <a:solidFill>
            <a:srgbClr val="131C31"/>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4937760" cy="4572000"/>
          </a:xfrm>
          <a:prstGeom prst="rect">
            <a:avLst/>
          </a:prstGeom>
          <a:noFill/>
        </p:spPr>
        <p:txBody>
          <a:bodyPr wrap="square">
            <a:spAutoFit/>
          </a:bodyPr>
          <a:lstStyle/>
          <a:p>
            <a:pPr>
              <a:spcAft>
                <a:spcPts val="1200"/>
              </a:spcAft>
              <a:defRPr sz="1300" b="1">
                <a:solidFill>
                  <a:srgbClr val="06B6D4"/>
                </a:solidFill>
                <a:latin typeface="Helvetica"/>
              </a:defRPr>
            </a:pPr>
            <a:r>
              <a:t>EXECUTIVE SUMMARY FOR MANAGERIAL FINANCE</a:t>
            </a:r>
            <a:r>
              <a:rPr sz="1150" b="1">
                <a:solidFill>
                  <a:srgbClr val="10B981"/>
                </a:solidFill>
                <a:latin typeface="Helvetica"/>
              </a:rPr>
              <a:t>•  Embedded, Not Imposed: </a:t>
            </a:r>
            <a:r>
              <a:rPr sz="1050">
                <a:solidFill>
                  <a:srgbClr val="94A3B8"/>
                </a:solidFill>
                <a:latin typeface="Arial"/>
              </a:rPr>
              <a:t>Fintech succeeds in SMEs when it is invisible—built into grease-monkey workflows, not added as extra bureaucracy.</a:t>
            </a:r>
          </a:p>
          <a:p>
            <a:pPr>
              <a:spcAft>
                <a:spcPts val="1200"/>
              </a:spcAft>
            </a:pPr>
            <a:r>
              <a:rPr sz="1150" b="1">
                <a:solidFill>
                  <a:srgbClr val="F8FAFC"/>
                </a:solidFill>
                <a:latin typeface="Helvetica"/>
              </a:rPr>
              <a:t>•  Liquidity Over Paper Profit: </a:t>
            </a:r>
            <a:r>
              <a:rPr sz="1050">
                <a:solidFill>
                  <a:srgbClr val="94A3B8"/>
                </a:solidFill>
                <a:latin typeface="Arial"/>
              </a:rPr>
              <a:t>Compressing the Cash Conversion Cycle guarantees real bank liquidity to withstand Sri Lanka's economic shocks.</a:t>
            </a:r>
          </a:p>
          <a:p>
            <a:pPr>
              <a:spcAft>
                <a:spcPts val="1200"/>
              </a:spcAft>
            </a:pPr>
            <a:r>
              <a:rPr sz="1150" b="1">
                <a:solidFill>
                  <a:srgbClr val="06B6D4"/>
                </a:solidFill>
                <a:latin typeface="Helvetica"/>
              </a:rPr>
              <a:t>•  Statutory Peace of Mind: </a:t>
            </a:r>
            <a:r>
              <a:rPr sz="1050">
                <a:solidFill>
                  <a:srgbClr val="94A3B8"/>
                </a:solidFill>
                <a:latin typeface="Arial"/>
              </a:rPr>
              <a:t>Automatic alignment with the 1 April – 31 March fiscal year ensures audit readiness at zero marginal cost.</a:t>
            </a:r>
          </a:p>
          <a:p>
            <a:pPr>
              <a:spcAft>
                <a:spcPts val="1200"/>
              </a:spcAft>
            </a:pPr>
            <a:r>
              <a:rPr sz="1150" b="1">
                <a:solidFill>
                  <a:srgbClr val="F59E0B"/>
                </a:solidFill>
                <a:latin typeface="Helvetica"/>
              </a:rPr>
              <a:t>•  Scalable Market Advantage: </a:t>
            </a:r>
            <a:r>
              <a:rPr sz="1050">
                <a:solidFill>
                  <a:srgbClr val="94A3B8"/>
                </a:solidFill>
                <a:latin typeface="Arial"/>
              </a:rPr>
              <a:t>Data assets, customer transparency, and digital speed transform an SME workshop into a modern market leader.</a:t>
            </a:r>
          </a:p>
        </p:txBody>
      </p:sp>
      <p:sp>
        <p:nvSpPr>
          <p:cNvPr id="5" name="Rounded Rectangle 4"/>
          <p:cNvSpPr/>
          <p:nvPr/>
        </p:nvSpPr>
        <p:spPr>
          <a:xfrm>
            <a:off x="6492240" y="1371600"/>
            <a:ext cx="4937760" cy="4937760"/>
          </a:xfrm>
          <a:prstGeom prst="roundRect">
            <a:avLst/>
          </a:prstGeom>
          <a:solidFill>
            <a:srgbClr val="131C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554480"/>
            <a:ext cx="4389120" cy="4572000"/>
          </a:xfrm>
          <a:prstGeom prst="rect">
            <a:avLst/>
          </a:prstGeom>
          <a:noFill/>
        </p:spPr>
        <p:txBody>
          <a:bodyPr wrap="square">
            <a:spAutoFit/>
          </a:bodyPr>
          <a:lstStyle/>
          <a:p>
            <a:pPr>
              <a:spcAft>
                <a:spcPts val="1600"/>
              </a:spcAft>
              <a:defRPr sz="1300" b="1">
                <a:solidFill>
                  <a:srgbClr val="10B981"/>
                </a:solidFill>
                <a:latin typeface="Helvetica"/>
              </a:defRPr>
            </a:pPr>
            <a:r>
              <a:t>UP NEXT: 2-MINUTE DEMONSTRATION VIDEO</a:t>
            </a:r>
          </a:p>
          <a:p>
            <a:pPr>
              <a:lnSpc>
                <a:spcPct val="130000"/>
              </a:lnSpc>
              <a:defRPr sz="1200">
                <a:solidFill>
                  <a:srgbClr val="F8FAFC"/>
                </a:solidFill>
                <a:latin typeface="Arial"/>
              </a:defRPr>
            </a:pPr>
            <a:r>
              <a:t>▶  Owner Perspective:</a:t>
            </a:r>
            <a:br/>
            <a:r>
              <a:t>Hear directly from the co-owner on how real-time visibility transformed operational peace of mind.</a:t>
            </a:r>
            <a:br/>
            <a:br/>
            <a:r>
              <a:t>▶  Customer Onboarding Drama:</a:t>
            </a:r>
            <a:br/>
            <a:r>
              <a:t>Observe a real vehicle intake, live status tracking, and the delight of transparent digital billing.</a:t>
            </a:r>
            <a:br/>
            <a:br/>
            <a:r>
              <a:t>▶  Fintech in Action:</a:t>
            </a:r>
            <a:br/>
            <a:r>
              <a:t>Watch instant WhatsApp invoice generation and seamless customer collection.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6B6D4"/>
                </a:solidFill>
                <a:latin typeface="Helvetica"/>
              </a:defRPr>
            </a:pPr>
            <a:r>
              <a:t>VIDEO SHOWCASE  |  10:00 - 12:00</a:t>
            </a:r>
          </a:p>
          <a:p>
            <a:pPr>
              <a:spcBef>
                <a:spcPts val="400"/>
              </a:spcBef>
              <a:defRPr sz="2200" b="1">
                <a:solidFill>
                  <a:srgbClr val="F8FAFC"/>
                </a:solidFill>
                <a:latin typeface="Helvetica"/>
              </a:defRPr>
            </a:pPr>
            <a:r>
              <a:t>Practical Demonstration: AutoPulse in Action</a:t>
            </a:r>
          </a:p>
          <a:p>
            <a:pPr>
              <a:spcBef>
                <a:spcPts val="300"/>
              </a:spcBef>
              <a:defRPr sz="1100">
                <a:solidFill>
                  <a:srgbClr val="94A3B8"/>
                </a:solidFill>
                <a:latin typeface="Arial"/>
              </a:defRPr>
            </a:pPr>
            <a:r>
              <a:t>Featuring owner testimony, customer onboarding drama, and customer satisfaction</a:t>
            </a:r>
          </a:p>
        </p:txBody>
      </p:sp>
      <p:sp>
        <p:nvSpPr>
          <p:cNvPr id="3" name="Rounded Rectangle 2"/>
          <p:cNvSpPr/>
          <p:nvPr/>
        </p:nvSpPr>
        <p:spPr>
          <a:xfrm>
            <a:off x="1371600" y="1371600"/>
            <a:ext cx="9448495" cy="4389120"/>
          </a:xfrm>
          <a:prstGeom prst="roundRect">
            <a:avLst/>
          </a:prstGeom>
          <a:solidFill>
            <a:srgbClr val="131C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103120"/>
            <a:ext cx="8534095" cy="2926080"/>
          </a:xfrm>
          <a:prstGeom prst="rect">
            <a:avLst/>
          </a:prstGeom>
          <a:noFill/>
        </p:spPr>
        <p:txBody>
          <a:bodyPr wrap="square">
            <a:spAutoFit/>
          </a:bodyPr>
          <a:lstStyle/>
          <a:p>
            <a:pPr>
              <a:defRPr sz="2800" b="1">
                <a:solidFill>
                  <a:srgbClr val="06B6D4"/>
                </a:solidFill>
                <a:latin typeface="Helvetica"/>
              </a:defRPr>
            </a:pPr>
            <a:r>
              <a:t>▶  VIDEO DEMONSTRATION</a:t>
            </a:r>
          </a:p>
          <a:p>
            <a:pPr>
              <a:spcBef>
                <a:spcPts val="1000"/>
              </a:spcBef>
              <a:defRPr sz="1500">
                <a:solidFill>
                  <a:srgbClr val="F8FAFC"/>
                </a:solidFill>
                <a:latin typeface="Arial"/>
              </a:defRPr>
            </a:pPr>
            <a:r>
              <a:t>AutoPulse Demo: Owner Interview &amp; Customer Onboarding Journey</a:t>
            </a:r>
          </a:p>
          <a:p>
            <a:pPr>
              <a:spcBef>
                <a:spcPts val="800"/>
              </a:spcBef>
              <a:defRPr sz="1200">
                <a:solidFill>
                  <a:srgbClr val="94A3B8"/>
                </a:solidFill>
                <a:latin typeface="Arial"/>
              </a:defRPr>
            </a:pPr>
            <a:r>
              <a:t>Duration: 2 Minutes  •  Media: walkthrough/autopulse-demo.mp4</a:t>
            </a:r>
          </a:p>
        </p:txBody>
      </p:sp>
      <p:sp>
        <p:nvSpPr>
          <p:cNvPr id="5" name="Rounded Rectangle 4"/>
          <p:cNvSpPr/>
          <p:nvPr/>
        </p:nvSpPr>
        <p:spPr>
          <a:xfrm>
            <a:off x="1371600" y="5943600"/>
            <a:ext cx="9448495" cy="5486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5989320"/>
            <a:ext cx="9144000" cy="457200"/>
          </a:xfrm>
          <a:prstGeom prst="rect">
            <a:avLst/>
          </a:prstGeom>
          <a:noFill/>
        </p:spPr>
        <p:txBody>
          <a:bodyPr wrap="none">
            <a:spAutoFit/>
          </a:bodyPr>
          <a:lstStyle/>
          <a:p>
            <a:pPr>
              <a:defRPr sz="1100" b="1">
                <a:solidFill>
                  <a:srgbClr val="10B981"/>
                </a:solidFill>
                <a:latin typeface="Helvetica"/>
              </a:defRPr>
            </a:pPr>
            <a:r>
              <a:t>GROUP B15  •  THANK YOU  •  QUESTIONS &amp; MANAGERIAL FINANCE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